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PROJECT_BRIEF.md
- PROJECT_CHARTER.md
- docs/context-sync/current-status.md
- 比赛资料/基础信息/Gpiano-AI主理人出道计划报名帖.md
- 比赛资料/第三周/output/evidence/核心流程真机录屏说明.md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https://npo059087.npoall.com/news/itemid-170910.html（2024 年乐器产业总营收 282.26 亿元；页面同时指出钢琴销量下滑；访问 2026-08-21）
- https://openstd.samr.gov.cn/bzgk/std/newGbInfo?hcno=E1BD0318ADCA26ACA46465E5E812C74E（GB/T 44664-2024，2025-01-01 实施；访问 2026-08-21）
- 比赛资料/第三周/output/BP初步规划.md
- 比赛资料/基础信息/Gpiano-AI主理人出道计划报名帖.md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https://www.flowkey.com/zh（课程、曲库、跟弹、慢速/循环/分手等公开功能；访问 2026-08-21）
- https://www.zubersoft.com/mobilesheets/（曲谱库、批注、曲单、翻页、音频与 MIDI 控制等公开功能；访问 2026-08-21）
- PROJECT_BRIEF.md
- docs/context-sync/current-status.md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docs/decisions/ADR-0001-local-first.md
- docs/decisions/ADR-0008-structured-score-interoperability.md
- docs/decisions/ADR-0013-audiveris-omr-companion-and-job-model.md
- docs/decisions/ADR-0016-consented-score-ai-companion.md
- docs/decisions/ADR-0017-editable-practice-version-revisions.md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PROJECT_BRIEF.md
- docs/product/requirements.md
- 比赛资料/基础信息/Gpiano-AI主理人出道计划报名帖.md
- docs/context-sync/current-status.md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docs/context-sync/current-status.md
- 比赛资料/第三周/output/evidence/核心流程真机录屏说明.md
- 比赛资料/第三周/output/evidence/gpiano-core-flow-2026-08-21.mp4
- docs/decisions/ADR-0017-editable-practice-version-revisions.md
- Screenshots captured from connected device BT_A800 on 2026-08-21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比赛资料/第三周/output/BP初步规划.md
- 比赛资料/第三周/output/Gpiano-AI商业BP-初稿.md
- docs/context-sync/current-status.md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PROJECT_CHARTER.md
- docs/product/requirements.md
- docs/context-sync/current-status.md
- 比赛资料/第三周/output/BP初步规划.md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比赛资料/第三周/input/任务说明.md
- 比赛资料/第三周/input/AI主理人—产品方向BP模板.md
- 比赛资料/第三周/output/BP初步规划.md
- 比赛资料/基础信息/Gpiano-AI主理人出道计划报名帖.md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docs/context-sync/current-status.md
- docs/decisions/ADR-0013-audiveris-omr-companion-and-job-model.md
- docs/decisions/ADR-0016-consented-score-ai-companion.md
- 比赛资料/第三周/output/BP初步规划.md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" y="6510528"/>
            <a:ext cx="11411712" cy="0"/>
          </a:xfrm>
          <a:prstGeom prst="line">
            <a:avLst/>
          </a:prstGeom>
          <a:noFill/>
          <a:ln w="8890">
            <a:solidFill>
              <a:srgbClr val="D9DDD8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56848" y="6547104"/>
            <a:ext cx="384048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77D78"/>
                </a:solidFill>
                <a:latin typeface="Noto Sans CJK SC"/>
                <a:ea typeface="Noto Sans CJK SC"/>
                <a:cs typeface="Noto Sans CJK SC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56848" y="6547104"/>
            <a:ext cx="384048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77D78"/>
                </a:solidFill>
                <a:latin typeface="Noto Sans CJK SC"/>
                <a:ea typeface="Noto Sans CJK SC"/>
                <a:cs typeface="Noto Sans CJK SC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47472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607D7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AI 主理人出道计划 · 产品方向 BP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32688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500" b="1" dirty="0">
                <a:solidFill>
                  <a:srgbClr val="1F232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Gpiano AI</a:t>
            </a:r>
            <a:endParaRPr lang="en-US" sz="35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517904"/>
            <a:ext cx="5760720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1F232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让静态琴谱</a:t>
            </a:r>
            <a:endParaRPr lang="en-US" sz="3100" dirty="0"/>
          </a:p>
          <a:p>
            <a:pPr algn="l" indent="0" marL="0">
              <a:buNone/>
            </a:pPr>
            <a:r>
              <a:rPr lang="en-US" sz="3100" b="1" dirty="0">
                <a:solidFill>
                  <a:srgbClr val="1F232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变成适合自己练的琴谱</a:t>
            </a:r>
            <a:endParaRPr lang="en-US" sz="3100" dirty="0"/>
          </a:p>
        </p:txBody>
      </p:sp>
      <p:sp>
        <p:nvSpPr>
          <p:cNvPr id="5" name="Text 3"/>
          <p:cNvSpPr txBox="1"/>
          <p:nvPr/>
        </p:nvSpPr>
        <p:spPr>
          <a:xfrm>
            <a:off x="493776" y="3182112"/>
            <a:ext cx="52578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42484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为练习自有或已获授权琴谱的学习者，把单页琴谱转成可校正、可试听、可调整的个人练习材料。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02920" y="4315968"/>
            <a:ext cx="1051560" cy="310896"/>
          </a:xfrm>
          <a:prstGeom prst="roundRect">
            <a:avLst>
              <a:gd name="adj" fmla="val 47059"/>
            </a:avLst>
          </a:prstGeom>
          <a:solidFill>
            <a:srgbClr val="DDE9E1"/>
          </a:solidFill>
          <a:ln w="8890">
            <a:solidFill>
              <a:srgbClr val="DDE9E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12648" y="4343400"/>
            <a:ext cx="8321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07D7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本地优先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682496" y="4315968"/>
            <a:ext cx="1234440" cy="310896"/>
          </a:xfrm>
          <a:prstGeom prst="roundRect">
            <a:avLst>
              <a:gd name="adj" fmla="val 47059"/>
            </a:avLst>
          </a:prstGeom>
          <a:solidFill>
            <a:srgbClr val="EAE3F5"/>
          </a:solidFill>
          <a:ln w="8890">
            <a:solidFill>
              <a:srgbClr val="EAE3F5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792224" y="4343400"/>
            <a:ext cx="10149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4547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原谱不覆盖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044952" y="4315968"/>
            <a:ext cx="1234440" cy="310896"/>
          </a:xfrm>
          <a:prstGeom prst="roundRect">
            <a:avLst>
              <a:gd name="adj" fmla="val 47059"/>
            </a:avLst>
          </a:prstGeom>
          <a:solidFill>
            <a:srgbClr val="EDF3EF"/>
          </a:solidFill>
          <a:ln w="8890">
            <a:solidFill>
              <a:srgbClr val="EDF3E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154680" y="4343400"/>
            <a:ext cx="10149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07D7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可带走成果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502920" y="5230368"/>
            <a:ext cx="3383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68706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指间流韵队 · 弓宇豪 / 胡锐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68706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2026.08.21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470648" y="310896"/>
            <a:ext cx="2816352" cy="4892040"/>
          </a:xfrm>
          <a:prstGeom prst="roundRect">
            <a:avLst>
              <a:gd name="adj" fmla="val 7143"/>
            </a:avLst>
          </a:prstGeom>
          <a:solidFill>
            <a:srgbClr val="1F2320"/>
          </a:solidFill>
          <a:ln w="8890">
            <a:solidFill>
              <a:srgbClr val="1F2320"/>
            </a:solidFill>
            <a:prstDash val="solid"/>
          </a:ln>
        </p:spPr>
      </p:sp>
      <p:pic>
        <p:nvPicPr>
          <p:cNvPr id="14" name="Image 0" descr="/home/thundersoft/AF-GYH/Gpiano/tmp/bp-assets/workspac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43800" y="384048"/>
            <a:ext cx="2670048" cy="4745736"/>
          </a:xfrm>
          <a:prstGeom prst="rect">
            <a:avLst/>
          </a:prstGeom>
        </p:spPr>
      </p:pic>
      <p:sp>
        <p:nvSpPr>
          <p:cNvPr id="15" name="Shape 12"/>
          <p:cNvSpPr/>
          <p:nvPr/>
        </p:nvSpPr>
        <p:spPr>
          <a:xfrm>
            <a:off x="6199632" y="1188720"/>
            <a:ext cx="1481328" cy="841248"/>
          </a:xfrm>
          <a:prstGeom prst="roundRect">
            <a:avLst>
              <a:gd name="adj" fmla="val 13043"/>
            </a:avLst>
          </a:prstGeom>
          <a:solidFill>
            <a:srgbClr val="FFF4A8"/>
          </a:solidFill>
          <a:ln w="8890">
            <a:solidFill>
              <a:srgbClr val="FFF4A8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6382512" y="1298448"/>
            <a:ext cx="7498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F232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24</a:t>
            </a:r>
            <a:endParaRPr lang="en-US" sz="2400" dirty="0"/>
          </a:p>
        </p:txBody>
      </p:sp>
      <p:sp>
        <p:nvSpPr>
          <p:cNvPr id="17" name="Text 14"/>
          <p:cNvSpPr txBox="1"/>
          <p:nvPr/>
        </p:nvSpPr>
        <p:spPr>
          <a:xfrm>
            <a:off x="6382512" y="1645920"/>
            <a:ext cx="1051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42484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小节真实结构谱</a:t>
            </a:r>
            <a:endParaRPr lang="en-US" sz="850" dirty="0"/>
          </a:p>
        </p:txBody>
      </p:sp>
      <p:sp>
        <p:nvSpPr>
          <p:cNvPr id="18" name="Shape 15"/>
          <p:cNvSpPr/>
          <p:nvPr/>
        </p:nvSpPr>
        <p:spPr>
          <a:xfrm>
            <a:off x="9802368" y="4663440"/>
            <a:ext cx="1572768" cy="877824"/>
          </a:xfrm>
          <a:prstGeom prst="roundRect">
            <a:avLst>
              <a:gd name="adj" fmla="val 12500"/>
            </a:avLst>
          </a:prstGeom>
          <a:solidFill>
            <a:srgbClr val="EAE3F5"/>
          </a:solidFill>
          <a:ln w="8890">
            <a:solidFill>
              <a:srgbClr val="EAE3F5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10003536" y="4782312"/>
            <a:ext cx="8412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F232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125</a:t>
            </a:r>
            <a:endParaRPr lang="en-US" sz="2400" dirty="0"/>
          </a:p>
        </p:txBody>
      </p:sp>
      <p:sp>
        <p:nvSpPr>
          <p:cNvPr id="20" name="Text 17"/>
          <p:cNvSpPr txBox="1"/>
          <p:nvPr/>
        </p:nvSpPr>
        <p:spPr>
          <a:xfrm>
            <a:off x="10003536" y="5138928"/>
            <a:ext cx="960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42484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项派生差异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56848" y="6547104"/>
            <a:ext cx="384048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77D78"/>
                </a:solidFill>
                <a:latin typeface="Noto Sans CJK SC"/>
                <a:ea typeface="Noto Sans CJK SC"/>
                <a:cs typeface="Noto Sans CJK SC"/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38912" y="256032"/>
            <a:ext cx="5120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607D7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市场前景与客户痛点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38912" y="566928"/>
            <a:ext cx="11155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市场不靠新琴增长，机会在“已有琴谱如何被练起来”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11155680" y="274320"/>
            <a:ext cx="5669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8706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02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3337560" cy="4343400"/>
          </a:xfrm>
          <a:prstGeom prst="roundRect">
            <a:avLst>
              <a:gd name="adj" fmla="val 4384"/>
            </a:avLst>
          </a:prstGeom>
          <a:solidFill>
            <a:srgbClr val="1F2320"/>
          </a:solidFill>
          <a:ln w="8890">
            <a:solidFill>
              <a:srgbClr val="1F232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49808" y="1737360"/>
            <a:ext cx="2697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282.26</a:t>
            </a:r>
            <a:endParaRPr lang="en-US" sz="3800" dirty="0"/>
          </a:p>
        </p:txBody>
      </p:sp>
      <p:sp>
        <p:nvSpPr>
          <p:cNvPr id="7" name="Text 5"/>
          <p:cNvSpPr txBox="1"/>
          <p:nvPr/>
        </p:nvSpPr>
        <p:spPr>
          <a:xfrm>
            <a:off x="2697480" y="2029968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亿元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758952" y="2505456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D8DDD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2024 年我国乐器产业总营收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49808" y="3017520"/>
            <a:ext cx="2688336" cy="0"/>
          </a:xfrm>
          <a:prstGeom prst="line">
            <a:avLst/>
          </a:prstGeom>
          <a:noFill/>
          <a:ln w="10160">
            <a:solidFill>
              <a:srgbClr val="69736D"/>
            </a:solidFill>
            <a:prstDash val="solid"/>
            <a:headEnd type="none"/>
            <a:tailEnd type="none"/>
          </a:ln>
        </p:spPr>
      </p:sp>
      <p:sp>
        <p:nvSpPr>
          <p:cNvPr id="10" name="Text 8"/>
          <p:cNvSpPr txBox="1"/>
          <p:nvPr/>
        </p:nvSpPr>
        <p:spPr>
          <a:xfrm>
            <a:off x="749808" y="3246120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4A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⚠ 这不是 Gpiano 的 TAM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749808" y="3730752"/>
            <a:ext cx="267004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公开材料同时指出钢琴销量下滑。因此，我们不押注“多卖新琴”，先验证存量学习者反复练习既有曲谱的效率价值。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49808" y="5138928"/>
            <a:ext cx="1920240" cy="310896"/>
          </a:xfrm>
          <a:prstGeom prst="roundRect">
            <a:avLst>
              <a:gd name="adj" fmla="val 47059"/>
            </a:avLst>
          </a:prstGeom>
          <a:solidFill>
            <a:srgbClr val="3A433E"/>
          </a:solidFill>
          <a:ln w="8890">
            <a:solidFill>
              <a:srgbClr val="3A433E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59536" y="5166360"/>
            <a:ext cx="17007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场景存在 ≠ 付费成立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096512" y="1417320"/>
            <a:ext cx="7589520" cy="877824"/>
          </a:xfrm>
          <a:prstGeom prst="roundRect">
            <a:avLst>
              <a:gd name="adj" fmla="val 12500"/>
            </a:avLst>
          </a:prstGeom>
          <a:solidFill>
            <a:srgbClr val="EDF3EF"/>
          </a:solidFill>
          <a:ln w="8890">
            <a:solidFill>
              <a:srgbClr val="DDE9E1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315968" y="1572768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607D7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01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4809744" y="1545336"/>
            <a:ext cx="1874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232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看不懂难小节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6656832" y="1554480"/>
            <a:ext cx="224028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68706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反复试弹 / 找视频 / 等老师</a:t>
            </a:r>
            <a:endParaRPr lang="en-US" sz="1050" dirty="0"/>
          </a:p>
        </p:txBody>
      </p:sp>
      <p:sp>
        <p:nvSpPr>
          <p:cNvPr id="18" name="Text 16"/>
          <p:cNvSpPr txBox="1"/>
          <p:nvPr/>
        </p:nvSpPr>
        <p:spPr>
          <a:xfrm>
            <a:off x="8887968" y="1554480"/>
            <a:ext cx="248716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607D7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原谱核对 + 小节定位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096512" y="2514600"/>
            <a:ext cx="7589520" cy="877824"/>
          </a:xfrm>
          <a:prstGeom prst="roundRect">
            <a:avLst>
              <a:gd name="adj" fmla="val 12500"/>
            </a:avLst>
          </a:prstGeom>
          <a:solidFill>
            <a:srgbClr val="F3EFF9"/>
          </a:solidFill>
          <a:ln w="8890">
            <a:solidFill>
              <a:srgbClr val="EAE3F5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315968" y="2670048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607D7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02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4809744" y="2642616"/>
            <a:ext cx="1874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232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想慢练、分手练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6656832" y="2651760"/>
            <a:ext cx="224028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68706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纸谱、音频、节拍器来回切</a:t>
            </a:r>
            <a:endParaRPr lang="en-US" sz="1050" dirty="0"/>
          </a:p>
        </p:txBody>
      </p:sp>
      <p:sp>
        <p:nvSpPr>
          <p:cNvPr id="23" name="Text 21"/>
          <p:cNvSpPr txBox="1"/>
          <p:nvPr/>
        </p:nvSpPr>
        <p:spPr>
          <a:xfrm>
            <a:off x="8887968" y="2651760"/>
            <a:ext cx="248716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607D7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选段 + 变速 + 循环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096512" y="3611880"/>
            <a:ext cx="7589520" cy="877824"/>
          </a:xfrm>
          <a:prstGeom prst="roundRect">
            <a:avLst>
              <a:gd name="adj" fmla="val 12500"/>
            </a:avLst>
          </a:prstGeom>
          <a:solidFill>
            <a:srgbClr val="EDF3EF"/>
          </a:solidFill>
          <a:ln w="8890">
            <a:solidFill>
              <a:srgbClr val="DDE9E1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4315968" y="3767328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607D7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03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4809744" y="3739896"/>
            <a:ext cx="1874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232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标准谱弹不动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6656832" y="3749040"/>
            <a:ext cx="224028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68706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跳过、手写、请人改谱</a:t>
            </a:r>
            <a:endParaRPr lang="en-US" sz="1050" dirty="0"/>
          </a:p>
        </p:txBody>
      </p:sp>
      <p:sp>
        <p:nvSpPr>
          <p:cNvPr id="28" name="Text 26"/>
          <p:cNvSpPr txBox="1"/>
          <p:nvPr/>
        </p:nvSpPr>
        <p:spPr>
          <a:xfrm>
            <a:off x="8887968" y="3749040"/>
            <a:ext cx="248716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607D7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独立练习版本 + 差异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096512" y="4709160"/>
            <a:ext cx="7589520" cy="877824"/>
          </a:xfrm>
          <a:prstGeom prst="roundRect">
            <a:avLst>
              <a:gd name="adj" fmla="val 12500"/>
            </a:avLst>
          </a:prstGeom>
          <a:solidFill>
            <a:srgbClr val="F3EFF9"/>
          </a:solidFill>
          <a:ln w="8890">
            <a:solidFill>
              <a:srgbClr val="EAE3F5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4315968" y="4864608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607D7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04</a:t>
            </a:r>
            <a:endParaRPr lang="en-US" sz="1300" dirty="0"/>
          </a:p>
        </p:txBody>
      </p:sp>
      <p:sp>
        <p:nvSpPr>
          <p:cNvPr id="31" name="Text 29"/>
          <p:cNvSpPr txBox="1"/>
          <p:nvPr/>
        </p:nvSpPr>
        <p:spPr>
          <a:xfrm>
            <a:off x="4809744" y="4837176"/>
            <a:ext cx="1874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232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弹完不知哪里错</a:t>
            </a:r>
            <a:endParaRPr lang="en-US" sz="1400" dirty="0"/>
          </a:p>
        </p:txBody>
      </p:sp>
      <p:sp>
        <p:nvSpPr>
          <p:cNvPr id="32" name="Text 30"/>
          <p:cNvSpPr txBox="1"/>
          <p:nvPr/>
        </p:nvSpPr>
        <p:spPr>
          <a:xfrm>
            <a:off x="6656832" y="4846320"/>
            <a:ext cx="224028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68706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凭感觉或等下节课</a:t>
            </a:r>
            <a:endParaRPr lang="en-US" sz="1050" dirty="0"/>
          </a:p>
        </p:txBody>
      </p:sp>
      <p:sp>
        <p:nvSpPr>
          <p:cNvPr id="33" name="Text 31"/>
          <p:cNvSpPr txBox="1"/>
          <p:nvPr/>
        </p:nvSpPr>
        <p:spPr>
          <a:xfrm>
            <a:off x="8887968" y="4846320"/>
            <a:ext cx="248716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607D7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事件级基础反馈（添头）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096512" y="5806440"/>
            <a:ext cx="7589520" cy="384048"/>
          </a:xfrm>
          <a:prstGeom prst="roundRect">
            <a:avLst>
              <a:gd name="adj" fmla="val 23810"/>
            </a:avLst>
          </a:prstGeom>
          <a:solidFill>
            <a:srgbClr val="FFFFFF"/>
          </a:solidFill>
          <a:ln w="8890">
            <a:solidFill>
              <a:srgbClr val="D9DDD8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4315968" y="5879592"/>
            <a:ext cx="716889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B44C4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下一步必须补证：学习者完成率、校正成本、再次使用意愿与实际付费偏好。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56848" y="6547104"/>
            <a:ext cx="384048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77D78"/>
                </a:solidFill>
                <a:latin typeface="Noto Sans CJK SC"/>
                <a:ea typeface="Noto Sans CJK SC"/>
                <a:cs typeface="Noto Sans CJK SC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38912" y="256032"/>
            <a:ext cx="5120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607D7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为什么是我们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38912" y="566928"/>
            <a:ext cx="11155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现有工具各自很强，但“自己的谱 → 可校正练习材料”仍有空位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11155680" y="274320"/>
            <a:ext cx="5669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8706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03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713232" y="1572768"/>
            <a:ext cx="6537960" cy="4343400"/>
          </a:xfrm>
          <a:prstGeom prst="roundRect">
            <a:avLst>
              <a:gd name="adj" fmla="val 2526"/>
            </a:avLst>
          </a:prstGeom>
          <a:solidFill>
            <a:srgbClr val="FFFFFF"/>
          </a:solidFill>
          <a:ln w="8890">
            <a:solidFill>
              <a:srgbClr val="D9DDD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490472" y="5349240"/>
            <a:ext cx="5394960" cy="0"/>
          </a:xfrm>
          <a:prstGeom prst="line">
            <a:avLst/>
          </a:prstGeom>
          <a:noFill/>
          <a:ln w="13970">
            <a:solidFill>
              <a:srgbClr val="424843"/>
            </a:solidFill>
            <a:prstDash val="solid"/>
            <a:headEnd type="none"/>
            <a:tailEnd type="none"/>
          </a:ln>
        </p:spPr>
      </p:sp>
      <p:sp>
        <p:nvSpPr>
          <p:cNvPr id="7" name="Shape 5"/>
          <p:cNvSpPr/>
          <p:nvPr/>
        </p:nvSpPr>
        <p:spPr>
          <a:xfrm>
            <a:off x="1490472" y="5349240"/>
            <a:ext cx="0" cy="-3337560"/>
          </a:xfrm>
          <a:prstGeom prst="line">
            <a:avLst/>
          </a:prstGeom>
          <a:noFill/>
          <a:ln w="13970">
            <a:solidFill>
              <a:srgbClr val="424843"/>
            </a:solidFill>
            <a:prstDash val="solid"/>
            <a:headEnd type="none"/>
            <a:tailEnd type="none"/>
          </a:ln>
        </p:spPr>
      </p:sp>
      <p:sp>
        <p:nvSpPr>
          <p:cNvPr id="8" name="Shape 6"/>
          <p:cNvSpPr/>
          <p:nvPr/>
        </p:nvSpPr>
        <p:spPr>
          <a:xfrm>
            <a:off x="1490472" y="2651760"/>
            <a:ext cx="0" cy="-384048"/>
          </a:xfrm>
          <a:prstGeom prst="line">
            <a:avLst/>
          </a:prstGeom>
          <a:noFill/>
          <a:ln w="13970">
            <a:solidFill>
              <a:srgbClr val="424843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6464808" y="5349240"/>
            <a:ext cx="438912" cy="0"/>
          </a:xfrm>
          <a:prstGeom prst="line">
            <a:avLst/>
          </a:prstGeom>
          <a:noFill/>
          <a:ln w="13970">
            <a:solidFill>
              <a:srgbClr val="424843"/>
            </a:solidFill>
            <a:prstDash val="solid"/>
            <a:tailEnd type="triangle"/>
          </a:ln>
        </p:spPr>
      </p:sp>
      <p:sp>
        <p:nvSpPr>
          <p:cNvPr id="10" name="Text 8"/>
          <p:cNvSpPr txBox="1"/>
          <p:nvPr/>
        </p:nvSpPr>
        <p:spPr>
          <a:xfrm>
            <a:off x="768096" y="5568696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8706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查看 / 跟练</a:t>
            </a:r>
            <a:endParaRPr lang="en-US" sz="850" dirty="0"/>
          </a:p>
        </p:txBody>
      </p:sp>
      <p:sp>
        <p:nvSpPr>
          <p:cNvPr id="11" name="Text 9"/>
          <p:cNvSpPr txBox="1"/>
          <p:nvPr/>
        </p:nvSpPr>
        <p:spPr>
          <a:xfrm>
            <a:off x="804672" y="1773936"/>
            <a:ext cx="1298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8706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可编辑练习材料</a:t>
            </a:r>
            <a:endParaRPr lang="en-US" sz="850" dirty="0"/>
          </a:p>
        </p:txBody>
      </p:sp>
      <p:sp>
        <p:nvSpPr>
          <p:cNvPr id="12" name="Text 10"/>
          <p:cNvSpPr txBox="1"/>
          <p:nvPr/>
        </p:nvSpPr>
        <p:spPr>
          <a:xfrm>
            <a:off x="1463040" y="5751576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68706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平台内容</a:t>
            </a:r>
            <a:endParaRPr lang="en-US" sz="850" dirty="0"/>
          </a:p>
        </p:txBody>
      </p:sp>
      <p:sp>
        <p:nvSpPr>
          <p:cNvPr id="13" name="Text 11"/>
          <p:cNvSpPr txBox="1"/>
          <p:nvPr/>
        </p:nvSpPr>
        <p:spPr>
          <a:xfrm>
            <a:off x="5495544" y="5751576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68706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用户自己的谱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1764792" y="4023360"/>
            <a:ext cx="1097280" cy="310896"/>
          </a:xfrm>
          <a:prstGeom prst="roundRect">
            <a:avLst>
              <a:gd name="adj" fmla="val 47059"/>
            </a:avLst>
          </a:prstGeom>
          <a:solidFill>
            <a:srgbClr val="EAE3F5"/>
          </a:solidFill>
          <a:ln w="8890">
            <a:solidFill>
              <a:srgbClr val="EAE3F5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1874520" y="4050792"/>
            <a:ext cx="8778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4547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flowkey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084064" y="4361688"/>
            <a:ext cx="1417320" cy="310896"/>
          </a:xfrm>
          <a:prstGeom prst="roundRect">
            <a:avLst>
              <a:gd name="adj" fmla="val 47059"/>
            </a:avLst>
          </a:prstGeom>
          <a:solidFill>
            <a:srgbClr val="F0F1EF"/>
          </a:solidFill>
          <a:ln w="8890">
            <a:solidFill>
              <a:srgbClr val="F0F1E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193792" y="4389120"/>
            <a:ext cx="11978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2484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MobileSheets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005072" y="2651760"/>
            <a:ext cx="1645920" cy="310896"/>
          </a:xfrm>
          <a:prstGeom prst="roundRect">
            <a:avLst>
              <a:gd name="adj" fmla="val 47059"/>
            </a:avLst>
          </a:prstGeom>
          <a:solidFill>
            <a:srgbClr val="F0F1EF"/>
          </a:solidFill>
          <a:ln w="8890">
            <a:solidFill>
              <a:srgbClr val="F0F1E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114800" y="2679192"/>
            <a:ext cx="14264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2484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专业制谱软件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5605272" y="2103120"/>
            <a:ext cx="1188720" cy="841248"/>
          </a:xfrm>
          <a:prstGeom prst="roundRect">
            <a:avLst>
              <a:gd name="adj" fmla="val 15217"/>
            </a:avLst>
          </a:prstGeom>
          <a:solidFill>
            <a:srgbClr val="FFF4A8"/>
          </a:solidFill>
          <a:ln w="8890">
            <a:solidFill>
              <a:srgbClr val="FFF4A8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815584" y="2249424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232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Gpiano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5925312" y="2560320"/>
            <a:ext cx="594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2484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目标卡位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7635240" y="1572768"/>
            <a:ext cx="4069080" cy="1115568"/>
          </a:xfrm>
          <a:prstGeom prst="roundRect">
            <a:avLst>
              <a:gd name="adj" fmla="val 11475"/>
            </a:avLst>
          </a:prstGeom>
          <a:solidFill>
            <a:srgbClr val="EDF3EF"/>
          </a:solidFill>
          <a:ln w="8890">
            <a:solidFill>
              <a:srgbClr val="D9DDD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635240" y="1572768"/>
            <a:ext cx="73152" cy="1115568"/>
          </a:xfrm>
          <a:prstGeom prst="rect">
            <a:avLst/>
          </a:prstGeom>
          <a:solidFill>
            <a:srgbClr val="607D70"/>
          </a:solidFill>
          <a:ln w="12700">
            <a:solidFill>
              <a:srgbClr val="607D70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7863840" y="175564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F232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不是从空白 Demo 开始</a:t>
            </a:r>
            <a:endParaRPr lang="en-US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7863840" y="2185416"/>
            <a:ext cx="365760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68706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已有 Android 本地琴谱库、阅读、书签、节拍器、备份与恢复底座。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7635240" y="2871216"/>
            <a:ext cx="4069080" cy="1115568"/>
          </a:xfrm>
          <a:prstGeom prst="roundRect">
            <a:avLst>
              <a:gd name="adj" fmla="val 11475"/>
            </a:avLst>
          </a:prstGeom>
          <a:solidFill>
            <a:srgbClr val="EDF4FF"/>
          </a:solidFill>
          <a:ln w="8890">
            <a:solidFill>
              <a:srgbClr val="D9DDD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635240" y="2871216"/>
            <a:ext cx="73152" cy="1115568"/>
          </a:xfrm>
          <a:prstGeom prst="rect">
            <a:avLst/>
          </a:prstGeom>
          <a:solidFill>
            <a:srgbClr val="3D8DFF"/>
          </a:solidFill>
          <a:ln w="12700">
            <a:solidFill>
              <a:srgbClr val="3D8DFF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7863840" y="3054096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F232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核心闭环已可运行</a:t>
            </a:r>
            <a:endParaRPr lang="en-US" sz="1500" dirty="0"/>
          </a:p>
        </p:txBody>
      </p:sp>
      <p:sp>
        <p:nvSpPr>
          <p:cNvPr id="30" name="Text 28"/>
          <p:cNvSpPr txBox="1"/>
          <p:nvPr/>
        </p:nvSpPr>
        <p:spPr>
          <a:xfrm>
            <a:off x="7863840" y="3483864"/>
            <a:ext cx="365760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68706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真实 OMR → MusicXML/ScoreIR → 校正 → 选段练习 → 派生版本 → 导出。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7635240" y="4169664"/>
            <a:ext cx="4069080" cy="1115568"/>
          </a:xfrm>
          <a:prstGeom prst="roundRect">
            <a:avLst>
              <a:gd name="adj" fmla="val 11475"/>
            </a:avLst>
          </a:prstGeom>
          <a:solidFill>
            <a:srgbClr val="F8ECEA"/>
          </a:solidFill>
          <a:ln w="8890">
            <a:solidFill>
              <a:srgbClr val="D9DDD8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635240" y="4169664"/>
            <a:ext cx="73152" cy="1115568"/>
          </a:xfrm>
          <a:prstGeom prst="rect">
            <a:avLst/>
          </a:prstGeom>
          <a:solidFill>
            <a:srgbClr val="B44C45"/>
          </a:solidFill>
          <a:ln w="12700">
            <a:solidFill>
              <a:srgbClr val="B44C45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7863840" y="4352544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F232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短板写在台面上</a:t>
            </a:r>
            <a:endParaRPr lang="en-US" sz="1500" dirty="0"/>
          </a:p>
        </p:txBody>
      </p:sp>
      <p:sp>
        <p:nvSpPr>
          <p:cNvPr id="34" name="Text 32"/>
          <p:cNvSpPr txBox="1"/>
          <p:nvPr/>
        </p:nvSpPr>
        <p:spPr>
          <a:xfrm>
            <a:off x="7863840" y="4782312"/>
            <a:ext cx="365760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68706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用户效果、真实付费、多页 OMR 泛化与物理 MIDI 设备兼容仍待验证。</a:t>
            </a:r>
            <a:endParaRPr lang="en-US" sz="1050" dirty="0"/>
          </a:p>
        </p:txBody>
      </p:sp>
      <p:sp>
        <p:nvSpPr>
          <p:cNvPr id="35" name="Text 33"/>
          <p:cNvSpPr txBox="1"/>
          <p:nvPr/>
        </p:nvSpPr>
        <p:spPr>
          <a:xfrm>
            <a:off x="7726680" y="568756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F232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团队：弓宇豪 / 胡锐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56848" y="6547104"/>
            <a:ext cx="384048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77D78"/>
                </a:solidFill>
                <a:latin typeface="Noto Sans CJK SC"/>
                <a:ea typeface="Noto Sans CJK SC"/>
                <a:cs typeface="Noto Sans CJK SC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38912" y="256032"/>
            <a:ext cx="5120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607D7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我们怎么赢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38912" y="566928"/>
            <a:ext cx="11155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制胜点不是“模型更神”，而是让不确定结果始终可核对、可恢复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11155680" y="274320"/>
            <a:ext cx="5669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8706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04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02920" y="1481328"/>
            <a:ext cx="1783080" cy="841248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8890">
            <a:solidFill>
              <a:srgbClr val="D9DDD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9224" y="1609344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607D7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01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649224" y="1810512"/>
            <a:ext cx="14996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F232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授权单页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313432" y="1901952"/>
            <a:ext cx="411480" cy="0"/>
          </a:xfrm>
          <a:prstGeom prst="line">
            <a:avLst/>
          </a:prstGeom>
          <a:noFill/>
          <a:ln w="15240">
            <a:solidFill>
              <a:srgbClr val="424843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2770632" y="1481328"/>
            <a:ext cx="1783080" cy="841248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8890">
            <a:solidFill>
              <a:srgbClr val="D9DDD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916936" y="1609344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607D7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02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2916936" y="1810512"/>
            <a:ext cx="14996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F232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OMR 草稿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81144" y="1901952"/>
            <a:ext cx="411480" cy="0"/>
          </a:xfrm>
          <a:prstGeom prst="line">
            <a:avLst/>
          </a:prstGeom>
          <a:noFill/>
          <a:ln w="15240">
            <a:solidFill>
              <a:srgbClr val="424843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5038344" y="1481328"/>
            <a:ext cx="1783080" cy="841248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8890">
            <a:solidFill>
              <a:srgbClr val="D9DDD8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184648" y="1609344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607D7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03</a:t>
            </a:r>
            <a:endParaRPr lang="en-US" sz="900" dirty="0"/>
          </a:p>
        </p:txBody>
      </p:sp>
      <p:sp>
        <p:nvSpPr>
          <p:cNvPr id="15" name="Text 13"/>
          <p:cNvSpPr txBox="1"/>
          <p:nvPr/>
        </p:nvSpPr>
        <p:spPr>
          <a:xfrm>
            <a:off x="5184648" y="1810512"/>
            <a:ext cx="14996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F232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核对 / 校正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848856" y="1901952"/>
            <a:ext cx="411480" cy="0"/>
          </a:xfrm>
          <a:prstGeom prst="line">
            <a:avLst/>
          </a:prstGeom>
          <a:noFill/>
          <a:ln w="15240">
            <a:solidFill>
              <a:srgbClr val="424843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7306056" y="1481328"/>
            <a:ext cx="1783080" cy="841248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8890">
            <a:solidFill>
              <a:srgbClr val="D9DDD8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452360" y="1609344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607D7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04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7452360" y="1810512"/>
            <a:ext cx="14996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F232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选段练习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9116568" y="1901952"/>
            <a:ext cx="411480" cy="0"/>
          </a:xfrm>
          <a:prstGeom prst="line">
            <a:avLst/>
          </a:prstGeom>
          <a:noFill/>
          <a:ln w="15240">
            <a:solidFill>
              <a:srgbClr val="424843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9573768" y="1481328"/>
            <a:ext cx="1783080" cy="841248"/>
          </a:xfrm>
          <a:prstGeom prst="roundRect">
            <a:avLst>
              <a:gd name="adj" fmla="val 13043"/>
            </a:avLst>
          </a:prstGeom>
          <a:solidFill>
            <a:srgbClr val="FFF4A8"/>
          </a:solidFill>
          <a:ln w="8890">
            <a:solidFill>
              <a:srgbClr val="FFF4A8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9720072" y="1609344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607D7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05</a:t>
            </a:r>
            <a:endParaRPr lang="en-US" sz="900" dirty="0"/>
          </a:p>
        </p:txBody>
      </p:sp>
      <p:sp>
        <p:nvSpPr>
          <p:cNvPr id="23" name="Text 21"/>
          <p:cNvSpPr txBox="1"/>
          <p:nvPr/>
        </p:nvSpPr>
        <p:spPr>
          <a:xfrm>
            <a:off x="9720072" y="1810512"/>
            <a:ext cx="14996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F232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独立版本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02920" y="2816352"/>
            <a:ext cx="3383280" cy="1517904"/>
          </a:xfrm>
          <a:prstGeom prst="roundRect">
            <a:avLst>
              <a:gd name="adj" fmla="val 8434"/>
            </a:avLst>
          </a:prstGeom>
          <a:solidFill>
            <a:srgbClr val="EDF4FF"/>
          </a:solidFill>
          <a:ln w="8890">
            <a:solidFill>
              <a:srgbClr val="D9DDD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02920" y="2816352"/>
            <a:ext cx="73152" cy="1517904"/>
          </a:xfrm>
          <a:prstGeom prst="rect">
            <a:avLst/>
          </a:prstGeom>
          <a:solidFill>
            <a:srgbClr val="3D8DFF"/>
          </a:solidFill>
          <a:ln w="12700">
            <a:solidFill>
              <a:srgbClr val="3D8DFF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731520" y="2999232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F232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结构化乐谱是统一底座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731520" y="3429000"/>
            <a:ext cx="297180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68706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播放、指导、编辑、派生与反馈都围绕同一小节和同一组事件；不让聊天答案脱离谱面证据。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4096512" y="2816352"/>
            <a:ext cx="3383280" cy="1517904"/>
          </a:xfrm>
          <a:prstGeom prst="roundRect">
            <a:avLst>
              <a:gd name="adj" fmla="val 8434"/>
            </a:avLst>
          </a:prstGeom>
          <a:solidFill>
            <a:srgbClr val="EDF3EF"/>
          </a:solidFill>
          <a:ln w="8890">
            <a:solidFill>
              <a:srgbClr val="D9DDD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096512" y="2816352"/>
            <a:ext cx="73152" cy="1517904"/>
          </a:xfrm>
          <a:prstGeom prst="rect">
            <a:avLst/>
          </a:prstGeom>
          <a:solidFill>
            <a:srgbClr val="607D70"/>
          </a:solidFill>
          <a:ln w="12700">
            <a:solidFill>
              <a:srgbClr val="607D70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4325112" y="2999232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F232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原谱 / 主谱 / 派生版分离</a:t>
            </a:r>
            <a:endParaRPr lang="en-US" sz="1500" dirty="0"/>
          </a:p>
        </p:txBody>
      </p:sp>
      <p:sp>
        <p:nvSpPr>
          <p:cNvPr id="31" name="Text 29"/>
          <p:cNvSpPr txBox="1"/>
          <p:nvPr/>
        </p:nvSpPr>
        <p:spPr>
          <a:xfrm>
            <a:off x="4325112" y="3429000"/>
            <a:ext cx="297180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68706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任何建议先成为独立候选；用户可逐项审阅、校正、撤销和重做，主谱指针保持不变。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7690104" y="2816352"/>
            <a:ext cx="3383280" cy="1517904"/>
          </a:xfrm>
          <a:prstGeom prst="roundRect">
            <a:avLst>
              <a:gd name="adj" fmla="val 8434"/>
            </a:avLst>
          </a:prstGeom>
          <a:solidFill>
            <a:srgbClr val="F3EFF9"/>
          </a:solidFill>
          <a:ln w="8890">
            <a:solidFill>
              <a:srgbClr val="D9DDD8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690104" y="2816352"/>
            <a:ext cx="73152" cy="1517904"/>
          </a:xfrm>
          <a:prstGeom prst="rect">
            <a:avLst/>
          </a:prstGeom>
          <a:solidFill>
            <a:srgbClr val="64547A"/>
          </a:solidFill>
          <a:ln w="12700">
            <a:solidFill>
              <a:srgbClr val="64547A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7918704" y="2999232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F232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本地优先 + 逐次授权</a:t>
            </a:r>
            <a:endParaRPr lang="en-US" sz="1500" dirty="0"/>
          </a:p>
        </p:txBody>
      </p:sp>
      <p:sp>
        <p:nvSpPr>
          <p:cNvPr id="35" name="Text 33"/>
          <p:cNvSpPr txBox="1"/>
          <p:nvPr/>
        </p:nvSpPr>
        <p:spPr>
          <a:xfrm>
            <a:off x="7918704" y="3429000"/>
            <a:ext cx="297180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68706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原谱与演奏记录默认留在设备；调用 AI 只发送当前选段的最小结构摘要，并保留本地降级路径。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9966960" y="4480560"/>
            <a:ext cx="1170432" cy="1965960"/>
          </a:xfrm>
          <a:prstGeom prst="roundRect">
            <a:avLst>
              <a:gd name="adj" fmla="val 17188"/>
            </a:avLst>
          </a:prstGeom>
          <a:solidFill>
            <a:srgbClr val="1F2320"/>
          </a:solidFill>
          <a:ln w="8890">
            <a:solidFill>
              <a:srgbClr val="1F2320"/>
            </a:solidFill>
            <a:prstDash val="solid"/>
          </a:ln>
        </p:spPr>
      </p:sp>
      <p:pic>
        <p:nvPicPr>
          <p:cNvPr id="37" name="Image 0" descr="/home/thundersoft/AF-GYH/Gpiano/tmp/bp-assets/ai-cons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40112" y="4553712"/>
            <a:ext cx="1024128" cy="1819656"/>
          </a:xfrm>
          <a:prstGeom prst="rect">
            <a:avLst/>
          </a:prstGeom>
        </p:spPr>
      </p:pic>
      <p:sp>
        <p:nvSpPr>
          <p:cNvPr id="38" name="Text 35"/>
          <p:cNvSpPr txBox="1"/>
          <p:nvPr/>
        </p:nvSpPr>
        <p:spPr>
          <a:xfrm>
            <a:off x="566928" y="4828032"/>
            <a:ext cx="1170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607D7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可持续资产</a:t>
            </a:r>
            <a:endParaRPr lang="en-US" sz="1100" dirty="0"/>
          </a:p>
        </p:txBody>
      </p:sp>
      <p:sp>
        <p:nvSpPr>
          <p:cNvPr id="39" name="Text 36"/>
          <p:cNvSpPr txBox="1"/>
          <p:nvPr/>
        </p:nvSpPr>
        <p:spPr>
          <a:xfrm>
            <a:off x="566928" y="5193792"/>
            <a:ext cx="8046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F232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可复用练习流程 · 校正样本 · 受约束编辑规则 · 可迁移数据格式</a:t>
            </a:r>
            <a:endParaRPr lang="en-US" sz="2000" dirty="0"/>
          </a:p>
        </p:txBody>
      </p:sp>
      <p:sp>
        <p:nvSpPr>
          <p:cNvPr id="40" name="Text 37"/>
          <p:cNvSpPr txBox="1"/>
          <p:nvPr/>
        </p:nvSpPr>
        <p:spPr>
          <a:xfrm>
            <a:off x="566928" y="5833872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B44C4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当前仍不声称已形成不可复制壁垒。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56848" y="6547104"/>
            <a:ext cx="384048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77D78"/>
                </a:solidFill>
                <a:latin typeface="Noto Sans CJK SC"/>
                <a:ea typeface="Noto Sans CJK SC"/>
                <a:cs typeface="Noto Sans CJK SC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38912" y="256032"/>
            <a:ext cx="5120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607D7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产品定义与核心价值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38912" y="566928"/>
            <a:ext cx="11155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从“显示文件”到“围绕具体小节行动”的个人练习工作台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11155680" y="274320"/>
            <a:ext cx="5669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8706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05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66928" y="1316736"/>
            <a:ext cx="2679192" cy="4645152"/>
          </a:xfrm>
          <a:prstGeom prst="roundRect">
            <a:avLst>
              <a:gd name="adj" fmla="val 7509"/>
            </a:avLst>
          </a:prstGeom>
          <a:solidFill>
            <a:srgbClr val="1F2320"/>
          </a:solidFill>
          <a:ln w="8890">
            <a:solidFill>
              <a:srgbClr val="1F2320"/>
            </a:solidFill>
            <a:prstDash val="solid"/>
          </a:ln>
        </p:spPr>
      </p:sp>
      <p:pic>
        <p:nvPicPr>
          <p:cNvPr id="6" name="Image 0" descr="/home/thundersoft/AF-GYH/Gpiano/tmp/bp-assets/guidanc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389888"/>
            <a:ext cx="2532888" cy="4498848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520440" y="1417320"/>
            <a:ext cx="8156448" cy="1060704"/>
          </a:xfrm>
          <a:prstGeom prst="roundRect">
            <a:avLst>
              <a:gd name="adj" fmla="val 11207"/>
            </a:avLst>
          </a:prstGeom>
          <a:solidFill>
            <a:srgbClr val="EDF3EF"/>
          </a:solidFill>
          <a:ln w="8890">
            <a:solidFill>
              <a:srgbClr val="DDE9E1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3730752" y="1581912"/>
            <a:ext cx="1078992" cy="310896"/>
          </a:xfrm>
          <a:prstGeom prst="roundRect">
            <a:avLst>
              <a:gd name="adj" fmla="val 47059"/>
            </a:avLst>
          </a:prstGeom>
          <a:solidFill>
            <a:srgbClr val="DDE9E1"/>
          </a:solidFill>
          <a:ln w="8890">
            <a:solidFill>
              <a:srgbClr val="DDE9E1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3840480" y="1609344"/>
            <a:ext cx="8595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07D7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初学者</a:t>
            </a:r>
            <a:endParaRPr lang="en-US" sz="900" dirty="0"/>
          </a:p>
        </p:txBody>
      </p:sp>
      <p:sp>
        <p:nvSpPr>
          <p:cNvPr id="10" name="Text 7"/>
          <p:cNvSpPr txBox="1"/>
          <p:nvPr/>
        </p:nvSpPr>
        <p:spPr>
          <a:xfrm>
            <a:off x="5138928" y="1545336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F232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听懂、看懂并慢练难小节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7909560" y="1563624"/>
            <a:ext cx="3383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68706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选段试听 / 分手 / 变速 / 循环 / 谱面依据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3520440" y="2743200"/>
            <a:ext cx="8156448" cy="1060704"/>
          </a:xfrm>
          <a:prstGeom prst="roundRect">
            <a:avLst>
              <a:gd name="adj" fmla="val 11207"/>
            </a:avLst>
          </a:prstGeom>
          <a:solidFill>
            <a:srgbClr val="F3EFF9"/>
          </a:solidFill>
          <a:ln w="8890">
            <a:solidFill>
              <a:srgbClr val="EAE3F5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3730752" y="2907792"/>
            <a:ext cx="1078992" cy="310896"/>
          </a:xfrm>
          <a:prstGeom prst="roundRect">
            <a:avLst>
              <a:gd name="adj" fmla="val 47059"/>
            </a:avLst>
          </a:prstGeom>
          <a:solidFill>
            <a:srgbClr val="EAE3F5"/>
          </a:solidFill>
          <a:ln w="8890">
            <a:solidFill>
              <a:srgbClr val="EAE3F5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3840480" y="2935224"/>
            <a:ext cx="8595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4547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独立练习者</a:t>
            </a:r>
            <a:endParaRPr lang="en-US" sz="900" dirty="0"/>
          </a:p>
        </p:txBody>
      </p:sp>
      <p:sp>
        <p:nvSpPr>
          <p:cNvPr id="15" name="Text 12"/>
          <p:cNvSpPr txBox="1"/>
          <p:nvPr/>
        </p:nvSpPr>
        <p:spPr>
          <a:xfrm>
            <a:off x="5138928" y="2871216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F232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课后处理一个具体卡点</a:t>
            </a:r>
            <a:endParaRPr lang="en-US" sz="1500" dirty="0"/>
          </a:p>
        </p:txBody>
      </p:sp>
      <p:sp>
        <p:nvSpPr>
          <p:cNvPr id="16" name="Text 13"/>
          <p:cNvSpPr txBox="1"/>
          <p:nvPr/>
        </p:nvSpPr>
        <p:spPr>
          <a:xfrm>
            <a:off x="7909560" y="2889504"/>
            <a:ext cx="3383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68706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先核对草稿，再按证据得到下一步动作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3520440" y="4069080"/>
            <a:ext cx="8156448" cy="1060704"/>
          </a:xfrm>
          <a:prstGeom prst="roundRect">
            <a:avLst>
              <a:gd name="adj" fmla="val 11207"/>
            </a:avLst>
          </a:prstGeom>
          <a:solidFill>
            <a:srgbClr val="EDF3EF"/>
          </a:solidFill>
          <a:ln w="8890">
            <a:solidFill>
              <a:srgbClr val="DDE9E1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3730752" y="4233672"/>
            <a:ext cx="1691640" cy="310896"/>
          </a:xfrm>
          <a:prstGeom prst="roundRect">
            <a:avLst>
              <a:gd name="adj" fmla="val 47059"/>
            </a:avLst>
          </a:prstGeom>
          <a:solidFill>
            <a:srgbClr val="DDE9E1"/>
          </a:solidFill>
          <a:ln w="8890">
            <a:solidFill>
              <a:srgbClr val="DDE9E1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3840480" y="4261104"/>
            <a:ext cx="14721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07D7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遇到可演奏性障碍者</a:t>
            </a:r>
            <a:endParaRPr lang="en-US" sz="900" dirty="0"/>
          </a:p>
        </p:txBody>
      </p:sp>
      <p:sp>
        <p:nvSpPr>
          <p:cNvPr id="20" name="Text 17"/>
          <p:cNvSpPr txBox="1"/>
          <p:nvPr/>
        </p:nvSpPr>
        <p:spPr>
          <a:xfrm>
            <a:off x="5138928" y="4197096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F232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得到当前弹得动的过渡方案</a:t>
            </a:r>
            <a:endParaRPr lang="en-US" sz="1500" dirty="0"/>
          </a:p>
        </p:txBody>
      </p:sp>
      <p:sp>
        <p:nvSpPr>
          <p:cNvPr id="21" name="Text 18"/>
          <p:cNvSpPr txBox="1"/>
          <p:nvPr/>
        </p:nvSpPr>
        <p:spPr>
          <a:xfrm>
            <a:off x="7909560" y="4215384"/>
            <a:ext cx="3383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68706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独立练习版 / 差异 / 试听 / 采纳或拒绝</a:t>
            </a:r>
            <a:endParaRPr lang="en-US" sz="1100" dirty="0"/>
          </a:p>
        </p:txBody>
      </p:sp>
      <p:sp>
        <p:nvSpPr>
          <p:cNvPr id="22" name="Text 19"/>
          <p:cNvSpPr txBox="1"/>
          <p:nvPr/>
        </p:nvSpPr>
        <p:spPr>
          <a:xfrm>
            <a:off x="3566160" y="553212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607D7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四个可验收承诺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5074920" y="5431536"/>
            <a:ext cx="1234440" cy="310896"/>
          </a:xfrm>
          <a:prstGeom prst="roundRect">
            <a:avLst>
              <a:gd name="adj" fmla="val 47059"/>
            </a:avLst>
          </a:prstGeom>
          <a:solidFill>
            <a:srgbClr val="DDE9E1"/>
          </a:solidFill>
          <a:ln w="8890">
            <a:solidFill>
              <a:srgbClr val="DDE9E1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5184648" y="5458968"/>
            <a:ext cx="10149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07D7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可核对</a:t>
            </a:r>
            <a:endParaRPr lang="en-US" sz="900" dirty="0"/>
          </a:p>
        </p:txBody>
      </p:sp>
      <p:sp>
        <p:nvSpPr>
          <p:cNvPr id="25" name="Shape 22"/>
          <p:cNvSpPr/>
          <p:nvPr/>
        </p:nvSpPr>
        <p:spPr>
          <a:xfrm>
            <a:off x="6647688" y="5431536"/>
            <a:ext cx="1234440" cy="310896"/>
          </a:xfrm>
          <a:prstGeom prst="roundRect">
            <a:avLst>
              <a:gd name="adj" fmla="val 47059"/>
            </a:avLst>
          </a:prstGeom>
          <a:solidFill>
            <a:srgbClr val="EAE3F5"/>
          </a:solidFill>
          <a:ln w="8890">
            <a:solidFill>
              <a:srgbClr val="EAE3F5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6757416" y="5458968"/>
            <a:ext cx="10149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4547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可练习</a:t>
            </a:r>
            <a:endParaRPr lang="en-US" sz="900" dirty="0"/>
          </a:p>
        </p:txBody>
      </p:sp>
      <p:sp>
        <p:nvSpPr>
          <p:cNvPr id="27" name="Shape 24"/>
          <p:cNvSpPr/>
          <p:nvPr/>
        </p:nvSpPr>
        <p:spPr>
          <a:xfrm>
            <a:off x="8220456" y="5431536"/>
            <a:ext cx="1234440" cy="310896"/>
          </a:xfrm>
          <a:prstGeom prst="roundRect">
            <a:avLst>
              <a:gd name="adj" fmla="val 47059"/>
            </a:avLst>
          </a:prstGeom>
          <a:solidFill>
            <a:srgbClr val="DDE9E1"/>
          </a:solidFill>
          <a:ln w="8890">
            <a:solidFill>
              <a:srgbClr val="DDE9E1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8330184" y="5458968"/>
            <a:ext cx="10149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07D7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可调整</a:t>
            </a:r>
            <a:endParaRPr lang="en-US" sz="900" dirty="0"/>
          </a:p>
        </p:txBody>
      </p:sp>
      <p:sp>
        <p:nvSpPr>
          <p:cNvPr id="29" name="Shape 26"/>
          <p:cNvSpPr/>
          <p:nvPr/>
        </p:nvSpPr>
        <p:spPr>
          <a:xfrm>
            <a:off x="9793224" y="5431536"/>
            <a:ext cx="1234440" cy="310896"/>
          </a:xfrm>
          <a:prstGeom prst="roundRect">
            <a:avLst>
              <a:gd name="adj" fmla="val 47059"/>
            </a:avLst>
          </a:prstGeom>
          <a:solidFill>
            <a:srgbClr val="EAE3F5"/>
          </a:solidFill>
          <a:ln w="8890">
            <a:solidFill>
              <a:srgbClr val="EAE3F5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9902952" y="5458968"/>
            <a:ext cx="10149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4547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可追溯</a:t>
            </a:r>
            <a:endParaRPr lang="en-US" sz="900" dirty="0"/>
          </a:p>
        </p:txBody>
      </p:sp>
      <p:sp>
        <p:nvSpPr>
          <p:cNvPr id="31" name="Text 28"/>
          <p:cNvSpPr txBox="1"/>
          <p:nvPr/>
        </p:nvSpPr>
        <p:spPr>
          <a:xfrm>
            <a:off x="3566160" y="5971032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B44C4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边界：需先得到可用结构化草稿；不替代教师判断，也不是制谱软件级自由编辑。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56848" y="6547104"/>
            <a:ext cx="384048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77D78"/>
                </a:solidFill>
                <a:latin typeface="Noto Sans CJK SC"/>
                <a:ea typeface="Noto Sans CJK SC"/>
                <a:cs typeface="Noto Sans CJK SC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38912" y="256032"/>
            <a:ext cx="5120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607D7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产品方案与交付物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38912" y="566928"/>
            <a:ext cx="11155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核心闭环已在真机跑通，证据可回放、成果可导出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11155680" y="274320"/>
            <a:ext cx="5669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8706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06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29768" y="1280160"/>
            <a:ext cx="2505456" cy="4343400"/>
          </a:xfrm>
          <a:prstGeom prst="roundRect">
            <a:avLst>
              <a:gd name="adj" fmla="val 8029"/>
            </a:avLst>
          </a:prstGeom>
          <a:solidFill>
            <a:srgbClr val="1F2320"/>
          </a:solidFill>
          <a:ln w="8890">
            <a:solidFill>
              <a:srgbClr val="1F2320"/>
            </a:solidFill>
            <a:prstDash val="solid"/>
          </a:ln>
        </p:spPr>
      </p:sp>
      <p:pic>
        <p:nvPicPr>
          <p:cNvPr id="6" name="Image 0" descr="/home/thundersoft/AF-GYH/Gpiano/tmp/bp-assets/workspac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353312"/>
            <a:ext cx="2359152" cy="4197096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054096" y="1280160"/>
            <a:ext cx="2505456" cy="4343400"/>
          </a:xfrm>
          <a:prstGeom prst="roundRect">
            <a:avLst>
              <a:gd name="adj" fmla="val 8029"/>
            </a:avLst>
          </a:prstGeom>
          <a:solidFill>
            <a:srgbClr val="1F2320"/>
          </a:solidFill>
          <a:ln w="8890">
            <a:solidFill>
              <a:srgbClr val="1F2320"/>
            </a:solidFill>
            <a:prstDash val="solid"/>
          </a:ln>
        </p:spPr>
      </p:sp>
      <p:pic>
        <p:nvPicPr>
          <p:cNvPr id="8" name="Image 1" descr="/home/thundersoft/AF-GYH/Gpiano/tmp/bp-assets/guidanc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27248" y="1353312"/>
            <a:ext cx="2359152" cy="4197096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5678424" y="1280160"/>
            <a:ext cx="2505456" cy="4343400"/>
          </a:xfrm>
          <a:prstGeom prst="roundRect">
            <a:avLst>
              <a:gd name="adj" fmla="val 8029"/>
            </a:avLst>
          </a:prstGeom>
          <a:solidFill>
            <a:srgbClr val="1F2320"/>
          </a:solidFill>
          <a:ln w="8890">
            <a:solidFill>
              <a:srgbClr val="1F2320"/>
            </a:solidFill>
            <a:prstDash val="solid"/>
          </a:ln>
        </p:spPr>
      </p:sp>
      <p:pic>
        <p:nvPicPr>
          <p:cNvPr id="10" name="Image 2" descr="/home/thundersoft/AF-GYH/Gpiano/tmp/bp-assets/version-detail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51576" y="1353312"/>
            <a:ext cx="2359152" cy="4197096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676656" y="565099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32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真实 OMR 结构谱</a:t>
            </a:r>
            <a:endParaRPr lang="en-US" sz="1200" dirty="0"/>
          </a:p>
        </p:txBody>
      </p:sp>
      <p:sp>
        <p:nvSpPr>
          <p:cNvPr id="12" name="Text 7"/>
          <p:cNvSpPr txBox="1"/>
          <p:nvPr/>
        </p:nvSpPr>
        <p:spPr>
          <a:xfrm>
            <a:off x="3291840" y="565099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32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本地证据指导</a:t>
            </a:r>
            <a:endParaRPr lang="en-US" sz="1200" dirty="0"/>
          </a:p>
        </p:txBody>
      </p:sp>
      <p:sp>
        <p:nvSpPr>
          <p:cNvPr id="13" name="Text 8"/>
          <p:cNvSpPr txBox="1"/>
          <p:nvPr/>
        </p:nvSpPr>
        <p:spPr>
          <a:xfrm>
            <a:off x="5925312" y="565099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32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125 项派生差异</a:t>
            </a:r>
            <a:endParaRPr lang="en-US" sz="1200" dirty="0"/>
          </a:p>
        </p:txBody>
      </p:sp>
      <p:sp>
        <p:nvSpPr>
          <p:cNvPr id="14" name="Shape 9"/>
          <p:cNvSpPr/>
          <p:nvPr/>
        </p:nvSpPr>
        <p:spPr>
          <a:xfrm>
            <a:off x="8458200" y="1389888"/>
            <a:ext cx="3246120" cy="65836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8890">
            <a:solidFill>
              <a:srgbClr val="D9DDD8"/>
            </a:solidFill>
            <a:prstDash val="solid"/>
          </a:ln>
        </p:spPr>
      </p:sp>
      <p:sp>
        <p:nvSpPr>
          <p:cNvPr id="15" name="Text 10"/>
          <p:cNvSpPr txBox="1"/>
          <p:nvPr/>
        </p:nvSpPr>
        <p:spPr>
          <a:xfrm>
            <a:off x="8705088" y="1481328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607D7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24</a:t>
            </a:r>
            <a:endParaRPr lang="en-US" sz="1900" dirty="0"/>
          </a:p>
        </p:txBody>
      </p:sp>
      <p:sp>
        <p:nvSpPr>
          <p:cNvPr id="16" name="Text 11"/>
          <p:cNvSpPr txBox="1"/>
          <p:nvPr/>
        </p:nvSpPr>
        <p:spPr>
          <a:xfrm>
            <a:off x="9802368" y="1508760"/>
            <a:ext cx="16642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42484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小节真实识别</a:t>
            </a:r>
            <a:endParaRPr lang="en-US" sz="1050" dirty="0"/>
          </a:p>
        </p:txBody>
      </p:sp>
      <p:sp>
        <p:nvSpPr>
          <p:cNvPr id="17" name="Shape 12"/>
          <p:cNvSpPr/>
          <p:nvPr/>
        </p:nvSpPr>
        <p:spPr>
          <a:xfrm>
            <a:off x="8458200" y="2267712"/>
            <a:ext cx="3246120" cy="65836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8890">
            <a:solidFill>
              <a:srgbClr val="D9DDD8"/>
            </a:solidFill>
            <a:prstDash val="solid"/>
          </a:ln>
        </p:spPr>
      </p:sp>
      <p:sp>
        <p:nvSpPr>
          <p:cNvPr id="18" name="Text 13"/>
          <p:cNvSpPr txBox="1"/>
          <p:nvPr/>
        </p:nvSpPr>
        <p:spPr>
          <a:xfrm>
            <a:off x="8705088" y="2359152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607D7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</a:t>
            </a:r>
            <a:endParaRPr lang="en-US" sz="1900" dirty="0"/>
          </a:p>
        </p:txBody>
      </p:sp>
      <p:sp>
        <p:nvSpPr>
          <p:cNvPr id="19" name="Text 14"/>
          <p:cNvSpPr txBox="1"/>
          <p:nvPr/>
        </p:nvSpPr>
        <p:spPr>
          <a:xfrm>
            <a:off x="9802368" y="2386584"/>
            <a:ext cx="16642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42484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派生独立修订</a:t>
            </a:r>
            <a:endParaRPr lang="en-US" sz="1050" dirty="0"/>
          </a:p>
        </p:txBody>
      </p:sp>
      <p:sp>
        <p:nvSpPr>
          <p:cNvPr id="20" name="Shape 15"/>
          <p:cNvSpPr/>
          <p:nvPr/>
        </p:nvSpPr>
        <p:spPr>
          <a:xfrm>
            <a:off x="8458200" y="3145536"/>
            <a:ext cx="3246120" cy="658368"/>
          </a:xfrm>
          <a:prstGeom prst="roundRect">
            <a:avLst>
              <a:gd name="adj" fmla="val 16667"/>
            </a:avLst>
          </a:prstGeom>
          <a:solidFill>
            <a:srgbClr val="FFF4A8"/>
          </a:solidFill>
          <a:ln w="8890">
            <a:solidFill>
              <a:srgbClr val="FFF4A8"/>
            </a:solidFill>
            <a:prstDash val="solid"/>
          </a:ln>
        </p:spPr>
      </p:sp>
      <p:sp>
        <p:nvSpPr>
          <p:cNvPr id="21" name="Text 16"/>
          <p:cNvSpPr txBox="1"/>
          <p:nvPr/>
        </p:nvSpPr>
        <p:spPr>
          <a:xfrm>
            <a:off x="8705088" y="3236976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F232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8:25</a:t>
            </a:r>
            <a:endParaRPr lang="en-US" sz="1900" dirty="0"/>
          </a:p>
        </p:txBody>
      </p:sp>
      <p:sp>
        <p:nvSpPr>
          <p:cNvPr id="22" name="Text 17"/>
          <p:cNvSpPr txBox="1"/>
          <p:nvPr/>
        </p:nvSpPr>
        <p:spPr>
          <a:xfrm>
            <a:off x="9802368" y="3264408"/>
            <a:ext cx="16642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42484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完整真机录屏</a:t>
            </a:r>
            <a:endParaRPr lang="en-US" sz="1050" dirty="0"/>
          </a:p>
        </p:txBody>
      </p:sp>
      <p:sp>
        <p:nvSpPr>
          <p:cNvPr id="23" name="Shape 18"/>
          <p:cNvSpPr/>
          <p:nvPr/>
        </p:nvSpPr>
        <p:spPr>
          <a:xfrm>
            <a:off x="8458200" y="4023360"/>
            <a:ext cx="3246120" cy="65836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8890">
            <a:solidFill>
              <a:srgbClr val="D9DDD8"/>
            </a:solidFill>
            <a:prstDash val="solid"/>
          </a:ln>
        </p:spPr>
      </p:sp>
      <p:sp>
        <p:nvSpPr>
          <p:cNvPr id="24" name="Text 19"/>
          <p:cNvSpPr txBox="1"/>
          <p:nvPr/>
        </p:nvSpPr>
        <p:spPr>
          <a:xfrm>
            <a:off x="8705088" y="4114800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607D7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24+5+4</a:t>
            </a:r>
            <a:endParaRPr lang="en-US" sz="1900" dirty="0"/>
          </a:p>
        </p:txBody>
      </p:sp>
      <p:sp>
        <p:nvSpPr>
          <p:cNvPr id="25" name="Text 20"/>
          <p:cNvSpPr txBox="1"/>
          <p:nvPr/>
        </p:nvSpPr>
        <p:spPr>
          <a:xfrm>
            <a:off x="9802368" y="4142232"/>
            <a:ext cx="16642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42484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Android / OMR / AI 测试</a:t>
            </a:r>
            <a:endParaRPr lang="en-US" sz="1050" dirty="0"/>
          </a:p>
        </p:txBody>
      </p:sp>
      <p:sp>
        <p:nvSpPr>
          <p:cNvPr id="26" name="Shape 21"/>
          <p:cNvSpPr/>
          <p:nvPr/>
        </p:nvSpPr>
        <p:spPr>
          <a:xfrm>
            <a:off x="8458200" y="4901184"/>
            <a:ext cx="3246120" cy="65836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8890">
            <a:solidFill>
              <a:srgbClr val="D9DDD8"/>
            </a:solidFill>
            <a:prstDash val="solid"/>
          </a:ln>
        </p:spPr>
      </p:sp>
      <p:sp>
        <p:nvSpPr>
          <p:cNvPr id="27" name="Text 22"/>
          <p:cNvSpPr txBox="1"/>
          <p:nvPr/>
        </p:nvSpPr>
        <p:spPr>
          <a:xfrm>
            <a:off x="8705088" y="4992624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607D7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v11 / v6</a:t>
            </a:r>
            <a:endParaRPr lang="en-US" sz="1900" dirty="0"/>
          </a:p>
        </p:txBody>
      </p:sp>
      <p:sp>
        <p:nvSpPr>
          <p:cNvPr id="28" name="Text 23"/>
          <p:cNvSpPr txBox="1"/>
          <p:nvPr/>
        </p:nvSpPr>
        <p:spPr>
          <a:xfrm>
            <a:off x="9802368" y="5020056"/>
            <a:ext cx="16642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42484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Room / .gpiano 恢复</a:t>
            </a:r>
            <a:endParaRPr lang="en-US" sz="1050" dirty="0"/>
          </a:p>
        </p:txBody>
      </p:sp>
      <p:sp>
        <p:nvSpPr>
          <p:cNvPr id="29" name="Text 24"/>
          <p:cNvSpPr txBox="1"/>
          <p:nvPr/>
        </p:nvSpPr>
        <p:spPr>
          <a:xfrm>
            <a:off x="8522208" y="5760720"/>
            <a:ext cx="30906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B44C4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DeepSeek V4 Flash 已完成真实受约束请求；不据此声称教学效果。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56848" y="6547104"/>
            <a:ext cx="384048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77D78"/>
                </a:solidFill>
                <a:latin typeface="Noto Sans CJK SC"/>
                <a:ea typeface="Noto Sans CJK SC"/>
                <a:cs typeface="Noto Sans CJK SC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38912" y="256032"/>
            <a:ext cx="5120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607D7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商业模式与定价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38912" y="566928"/>
            <a:ext cx="11155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先验证价值交换，再决定按次、练习包还是订阅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11155680" y="274320"/>
            <a:ext cx="5669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8706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07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02920" y="1353312"/>
            <a:ext cx="2240280" cy="310896"/>
          </a:xfrm>
          <a:prstGeom prst="roundRect">
            <a:avLst>
              <a:gd name="adj" fmla="val 47059"/>
            </a:avLst>
          </a:prstGeom>
          <a:solidFill>
            <a:srgbClr val="F8ECEA"/>
          </a:solidFill>
          <a:ln w="8890">
            <a:solidFill>
              <a:srgbClr val="F8ECE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12648" y="1380744"/>
            <a:ext cx="20208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B44C4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所有收费结论均为待验证假设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02920" y="1874520"/>
            <a:ext cx="3429000" cy="2304288"/>
          </a:xfrm>
          <a:prstGeom prst="roundRect">
            <a:avLst>
              <a:gd name="adj" fmla="val 5556"/>
            </a:avLst>
          </a:prstGeom>
          <a:solidFill>
            <a:srgbClr val="EDF3EF"/>
          </a:solidFill>
          <a:ln w="8890">
            <a:solidFill>
              <a:srgbClr val="DDE9E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22376" y="2048256"/>
            <a:ext cx="411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607D7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01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722376" y="2395728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F232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受控试用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722376" y="2907792"/>
            <a:ext cx="296265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42484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转换 + 校正 + 选段练习 + 基础练习版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722376" y="3575304"/>
            <a:ext cx="2926080" cy="0"/>
          </a:xfrm>
          <a:prstGeom prst="line">
            <a:avLst/>
          </a:prstGeom>
          <a:noFill/>
          <a:ln w="10160">
            <a:solidFill>
              <a:srgbClr val="D9DDD8"/>
            </a:solidFill>
            <a:prstDash val="solid"/>
            <a:headEnd type="none"/>
            <a:tailEnd type="none"/>
          </a:ln>
        </p:spPr>
      </p:sp>
      <p:sp>
        <p:nvSpPr>
          <p:cNvPr id="12" name="Text 10"/>
          <p:cNvSpPr txBox="1"/>
          <p:nvPr/>
        </p:nvSpPr>
        <p:spPr>
          <a:xfrm>
            <a:off x="722376" y="3703320"/>
            <a:ext cx="29443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607D7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验证：用户是否完成、是否愿意再用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941064" y="2990088"/>
            <a:ext cx="347472" cy="0"/>
          </a:xfrm>
          <a:prstGeom prst="line">
            <a:avLst/>
          </a:prstGeom>
          <a:noFill/>
          <a:ln w="13970">
            <a:solidFill>
              <a:srgbClr val="424843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4325112" y="1874520"/>
            <a:ext cx="3429000" cy="2304288"/>
          </a:xfrm>
          <a:prstGeom prst="roundRect">
            <a:avLst>
              <a:gd name="adj" fmla="val 5556"/>
            </a:avLst>
          </a:prstGeom>
          <a:solidFill>
            <a:srgbClr val="F3EFF9"/>
          </a:solidFill>
          <a:ln w="8890">
            <a:solidFill>
              <a:srgbClr val="EAE3F5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544568" y="2048256"/>
            <a:ext cx="411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607D7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02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4544568" y="2395728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F232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早期产品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4544568" y="2907792"/>
            <a:ext cx="296265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42484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高频练习工具 + 可带走 MusicXML/.gpiano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544568" y="3575304"/>
            <a:ext cx="2926080" cy="0"/>
          </a:xfrm>
          <a:prstGeom prst="line">
            <a:avLst/>
          </a:prstGeom>
          <a:noFill/>
          <a:ln w="10160">
            <a:solidFill>
              <a:srgbClr val="D9DDD8"/>
            </a:solidFill>
            <a:prstDash val="solid"/>
            <a:headEnd type="none"/>
            <a:tailEnd type="none"/>
          </a:ln>
        </p:spPr>
      </p:sp>
      <p:sp>
        <p:nvSpPr>
          <p:cNvPr id="19" name="Text 17"/>
          <p:cNvSpPr txBox="1"/>
          <p:nvPr/>
        </p:nvSpPr>
        <p:spPr>
          <a:xfrm>
            <a:off x="4544568" y="3703320"/>
            <a:ext cx="29443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607D7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测试：按次 / 练习包 / 订阅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7763256" y="2990088"/>
            <a:ext cx="347472" cy="0"/>
          </a:xfrm>
          <a:prstGeom prst="line">
            <a:avLst/>
          </a:prstGeom>
          <a:noFill/>
          <a:ln w="13970">
            <a:solidFill>
              <a:srgbClr val="424843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8147304" y="1874520"/>
            <a:ext cx="3429000" cy="2304288"/>
          </a:xfrm>
          <a:prstGeom prst="roundRect">
            <a:avLst>
              <a:gd name="adj" fmla="val 5556"/>
            </a:avLst>
          </a:prstGeom>
          <a:solidFill>
            <a:srgbClr val="EDF3EF"/>
          </a:solidFill>
          <a:ln w="8890">
            <a:solidFill>
              <a:srgbClr val="DDE9E1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8366760" y="2048256"/>
            <a:ext cx="411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607D7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03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8366760" y="2395728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F232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后续协作</a:t>
            </a:r>
            <a:endParaRPr lang="en-US" sz="2000" dirty="0"/>
          </a:p>
        </p:txBody>
      </p:sp>
      <p:sp>
        <p:nvSpPr>
          <p:cNvPr id="24" name="Text 22"/>
          <p:cNvSpPr txBox="1"/>
          <p:nvPr/>
        </p:nvSpPr>
        <p:spPr>
          <a:xfrm>
            <a:off x="8366760" y="2907792"/>
            <a:ext cx="296265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42484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教师 / 琴行向学员交付练习材料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8366760" y="3575304"/>
            <a:ext cx="2926080" cy="0"/>
          </a:xfrm>
          <a:prstGeom prst="line">
            <a:avLst/>
          </a:prstGeom>
          <a:noFill/>
          <a:ln w="10160">
            <a:solidFill>
              <a:srgbClr val="D9DDD8"/>
            </a:solidFill>
            <a:prstDash val="solid"/>
            <a:headEnd type="none"/>
            <a:tailEnd type="none"/>
          </a:ln>
        </p:spPr>
      </p:sp>
      <p:sp>
        <p:nvSpPr>
          <p:cNvPr id="26" name="Text 24"/>
          <p:cNvSpPr txBox="1"/>
          <p:nvPr/>
        </p:nvSpPr>
        <p:spPr>
          <a:xfrm>
            <a:off x="8366760" y="3703320"/>
            <a:ext cx="29443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607D7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验证：复用率与验收成本；非独立产品线</a:t>
            </a:r>
            <a:endParaRPr lang="en-US" sz="950" dirty="0"/>
          </a:p>
        </p:txBody>
      </p:sp>
      <p:sp>
        <p:nvSpPr>
          <p:cNvPr id="27" name="Text 25"/>
          <p:cNvSpPr txBox="1"/>
          <p:nvPr/>
        </p:nvSpPr>
        <p:spPr>
          <a:xfrm>
            <a:off x="530352" y="4736592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F232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定价访谈只问三个问题</a:t>
            </a:r>
            <a:endParaRPr lang="en-US" sz="1700" dirty="0"/>
          </a:p>
        </p:txBody>
      </p:sp>
      <p:sp>
        <p:nvSpPr>
          <p:cNvPr id="28" name="Shape 26"/>
          <p:cNvSpPr/>
          <p:nvPr/>
        </p:nvSpPr>
        <p:spPr>
          <a:xfrm>
            <a:off x="530352" y="5230368"/>
            <a:ext cx="3419856" cy="65836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8890">
            <a:solidFill>
              <a:srgbClr val="D9DDD8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749808" y="5376672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F232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最愿为哪个结果付费？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4306824" y="5230368"/>
            <a:ext cx="3419856" cy="65836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8890">
            <a:solidFill>
              <a:srgbClr val="D9DDD8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4526280" y="5376672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F232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偏好哪一种收费单位？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8083296" y="5230368"/>
            <a:ext cx="3419856" cy="65836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8890">
            <a:solidFill>
              <a:srgbClr val="D9DDD8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8302752" y="5376672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F232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哪种失败成本会让你拒绝使用？</a:t>
            </a:r>
            <a:endParaRPr lang="en-US" sz="1250" dirty="0"/>
          </a:p>
        </p:txBody>
      </p:sp>
      <p:sp>
        <p:nvSpPr>
          <p:cNvPr id="34" name="Text 32"/>
          <p:cNvSpPr txBox="1"/>
          <p:nvPr/>
        </p:nvSpPr>
        <p:spPr>
          <a:xfrm>
            <a:off x="548640" y="6053328"/>
            <a:ext cx="7589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B44C4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未获得原始回答前：不展示具体价格、不做收入预测、不写合作意向数量。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56848" y="6547104"/>
            <a:ext cx="384048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77D78"/>
                </a:solidFill>
                <a:latin typeface="Noto Sans CJK SC"/>
                <a:ea typeface="Noto Sans CJK SC"/>
                <a:cs typeface="Noto Sans CJK SC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38912" y="256032"/>
            <a:ext cx="5120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607D7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产品规划与 ROADMAP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38912" y="566928"/>
            <a:ext cx="11155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核心功能优先；MIDI 是添头，验证门槛决定是否进入下一阶段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11155680" y="274320"/>
            <a:ext cx="5669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8706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08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02920" y="1417320"/>
            <a:ext cx="3401568" cy="4370832"/>
          </a:xfrm>
          <a:prstGeom prst="roundRect">
            <a:avLst>
              <a:gd name="adj" fmla="val 3763"/>
            </a:avLst>
          </a:prstGeom>
          <a:solidFill>
            <a:srgbClr val="EDF3EF"/>
          </a:solidFill>
          <a:ln w="8890">
            <a:solidFill>
              <a:srgbClr val="DDE9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22376" y="1645920"/>
            <a:ext cx="1325880" cy="310896"/>
          </a:xfrm>
          <a:prstGeom prst="roundRect">
            <a:avLst>
              <a:gd name="adj" fmla="val 47059"/>
            </a:avLst>
          </a:prstGeom>
          <a:solidFill>
            <a:srgbClr val="DDE9E1"/>
          </a:solidFill>
          <a:ln w="8890">
            <a:solidFill>
              <a:srgbClr val="DDE9E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32104" y="1673352"/>
            <a:ext cx="11064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07D7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T · 当前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722376" y="2148840"/>
            <a:ext cx="2834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F232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比赛 MVP 可核验</a:t>
            </a:r>
            <a:endParaRPr lang="en-US" sz="1900" dirty="0"/>
          </a:p>
        </p:txBody>
      </p:sp>
      <p:sp>
        <p:nvSpPr>
          <p:cNvPr id="9" name="Text 7"/>
          <p:cNvSpPr txBox="1"/>
          <p:nvPr/>
        </p:nvSpPr>
        <p:spPr>
          <a:xfrm>
            <a:off x="749808" y="2779776"/>
            <a:ext cx="2926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607D7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✓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1115568" y="2761488"/>
            <a:ext cx="25054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42484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单页 OMR / 校正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749808" y="3282696"/>
            <a:ext cx="2926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607D7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✓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1115568" y="3264408"/>
            <a:ext cx="25054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42484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选段播放 / 证据指导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749808" y="3785616"/>
            <a:ext cx="2926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607D7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✓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1115568" y="3767328"/>
            <a:ext cx="25054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42484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派生版编辑 / 撤销重做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749808" y="4288536"/>
            <a:ext cx="2926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607D7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✓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1115568" y="4270248"/>
            <a:ext cx="25054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42484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Room v11 / 备份 v6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722376" y="4901184"/>
            <a:ext cx="2926080" cy="0"/>
          </a:xfrm>
          <a:prstGeom prst="line">
            <a:avLst/>
          </a:prstGeom>
          <a:noFill/>
          <a:ln w="10160">
            <a:solidFill>
              <a:srgbClr val="D9DDD8"/>
            </a:solidFill>
            <a:prstDash val="solid"/>
            <a:headEnd type="none"/>
            <a:tailEnd type="none"/>
          </a:ln>
        </p:spPr>
      </p:sp>
      <p:sp>
        <p:nvSpPr>
          <p:cNvPr id="18" name="Text 16"/>
          <p:cNvSpPr txBox="1"/>
          <p:nvPr/>
        </p:nvSpPr>
        <p:spPr>
          <a:xfrm>
            <a:off x="722376" y="5102352"/>
            <a:ext cx="2880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607D7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已通过：真机流程与恢复证据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931920" y="3520440"/>
            <a:ext cx="347472" cy="0"/>
          </a:xfrm>
          <a:prstGeom prst="line">
            <a:avLst/>
          </a:prstGeom>
          <a:noFill/>
          <a:ln w="13970">
            <a:solidFill>
              <a:srgbClr val="424843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4325112" y="1417320"/>
            <a:ext cx="3401568" cy="4370832"/>
          </a:xfrm>
          <a:prstGeom prst="roundRect">
            <a:avLst>
              <a:gd name="adj" fmla="val 3763"/>
            </a:avLst>
          </a:prstGeom>
          <a:solidFill>
            <a:srgbClr val="F3EFF9"/>
          </a:solidFill>
          <a:ln w="8890">
            <a:solidFill>
              <a:srgbClr val="EAE3F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544568" y="1645920"/>
            <a:ext cx="1325880" cy="310896"/>
          </a:xfrm>
          <a:prstGeom prst="roundRect">
            <a:avLst>
              <a:gd name="adj" fmla="val 47059"/>
            </a:avLst>
          </a:prstGeom>
          <a:solidFill>
            <a:srgbClr val="EAE3F5"/>
          </a:solidFill>
          <a:ln w="8890">
            <a:solidFill>
              <a:srgbClr val="EAE3F5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4654296" y="1673352"/>
            <a:ext cx="11064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4547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T+1 · 4 周</a:t>
            </a:r>
            <a:endParaRPr lang="en-US" sz="900" dirty="0"/>
          </a:p>
        </p:txBody>
      </p:sp>
      <p:sp>
        <p:nvSpPr>
          <p:cNvPr id="23" name="Text 21"/>
          <p:cNvSpPr txBox="1"/>
          <p:nvPr/>
        </p:nvSpPr>
        <p:spPr>
          <a:xfrm>
            <a:off x="4544568" y="2148840"/>
            <a:ext cx="2834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F232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学习者价值验证</a:t>
            </a:r>
            <a:endParaRPr lang="en-US" sz="1900" dirty="0"/>
          </a:p>
        </p:txBody>
      </p:sp>
      <p:sp>
        <p:nvSpPr>
          <p:cNvPr id="24" name="Text 22"/>
          <p:cNvSpPr txBox="1"/>
          <p:nvPr/>
        </p:nvSpPr>
        <p:spPr>
          <a:xfrm>
            <a:off x="4572000" y="2779776"/>
            <a:ext cx="2926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68706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✓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4937760" y="2761488"/>
            <a:ext cx="25054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42484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≥2 位完整流程</a:t>
            </a:r>
            <a:endParaRPr lang="en-US" sz="1050" dirty="0"/>
          </a:p>
        </p:txBody>
      </p:sp>
      <p:sp>
        <p:nvSpPr>
          <p:cNvPr id="26" name="Text 24"/>
          <p:cNvSpPr txBox="1"/>
          <p:nvPr/>
        </p:nvSpPr>
        <p:spPr>
          <a:xfrm>
            <a:off x="4572000" y="3282696"/>
            <a:ext cx="2926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68706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✓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4937760" y="3264408"/>
            <a:ext cx="25054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42484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记录完成率与中断点</a:t>
            </a:r>
            <a:endParaRPr lang="en-US" sz="1050" dirty="0"/>
          </a:p>
        </p:txBody>
      </p:sp>
      <p:sp>
        <p:nvSpPr>
          <p:cNvPr id="28" name="Text 26"/>
          <p:cNvSpPr txBox="1"/>
          <p:nvPr/>
        </p:nvSpPr>
        <p:spPr>
          <a:xfrm>
            <a:off x="4572000" y="3785616"/>
            <a:ext cx="2926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68706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✓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4937760" y="3767328"/>
            <a:ext cx="25054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42484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量化校正成本</a:t>
            </a:r>
            <a:endParaRPr lang="en-US" sz="1050" dirty="0"/>
          </a:p>
        </p:txBody>
      </p:sp>
      <p:sp>
        <p:nvSpPr>
          <p:cNvPr id="30" name="Text 28"/>
          <p:cNvSpPr txBox="1"/>
          <p:nvPr/>
        </p:nvSpPr>
        <p:spPr>
          <a:xfrm>
            <a:off x="4572000" y="4288536"/>
            <a:ext cx="2926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68706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✓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4937760" y="4270248"/>
            <a:ext cx="25054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42484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再次使用与定价偏好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4544568" y="4901184"/>
            <a:ext cx="2926080" cy="0"/>
          </a:xfrm>
          <a:prstGeom prst="line">
            <a:avLst/>
          </a:prstGeom>
          <a:noFill/>
          <a:ln w="10160">
            <a:solidFill>
              <a:srgbClr val="D9DDD8"/>
            </a:solidFill>
            <a:prstDash val="solid"/>
            <a:headEnd type="none"/>
            <a:tailEnd type="none"/>
          </a:ln>
        </p:spPr>
      </p:sp>
      <p:sp>
        <p:nvSpPr>
          <p:cNvPr id="33" name="Text 31"/>
          <p:cNvSpPr txBox="1"/>
          <p:nvPr/>
        </p:nvSpPr>
        <p:spPr>
          <a:xfrm>
            <a:off x="4544568" y="5102352"/>
            <a:ext cx="2880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44C4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通过：每项有原始记录和优先级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7754112" y="3520440"/>
            <a:ext cx="347472" cy="0"/>
          </a:xfrm>
          <a:prstGeom prst="line">
            <a:avLst/>
          </a:prstGeom>
          <a:noFill/>
          <a:ln w="13970">
            <a:solidFill>
              <a:srgbClr val="424843"/>
            </a:solidFill>
            <a:prstDash val="solid"/>
            <a:tailEnd type="triangle"/>
          </a:ln>
        </p:spPr>
      </p:sp>
      <p:sp>
        <p:nvSpPr>
          <p:cNvPr id="35" name="Shape 33"/>
          <p:cNvSpPr/>
          <p:nvPr/>
        </p:nvSpPr>
        <p:spPr>
          <a:xfrm>
            <a:off x="8147304" y="1417320"/>
            <a:ext cx="3401568" cy="4370832"/>
          </a:xfrm>
          <a:prstGeom prst="roundRect">
            <a:avLst>
              <a:gd name="adj" fmla="val 3763"/>
            </a:avLst>
          </a:prstGeom>
          <a:solidFill>
            <a:srgbClr val="FFFFFF"/>
          </a:solidFill>
          <a:ln w="8890">
            <a:solidFill>
              <a:srgbClr val="D9DDD8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366760" y="1645920"/>
            <a:ext cx="1325880" cy="310896"/>
          </a:xfrm>
          <a:prstGeom prst="roundRect">
            <a:avLst>
              <a:gd name="adj" fmla="val 47059"/>
            </a:avLst>
          </a:prstGeom>
          <a:solidFill>
            <a:srgbClr val="DDE9E1"/>
          </a:solidFill>
          <a:ln w="8890">
            <a:solidFill>
              <a:srgbClr val="DDE9E1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8476488" y="1673352"/>
            <a:ext cx="11064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07D7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T+2 · 8–12 周</a:t>
            </a:r>
            <a:endParaRPr lang="en-US" sz="900" dirty="0"/>
          </a:p>
        </p:txBody>
      </p:sp>
      <p:sp>
        <p:nvSpPr>
          <p:cNvPr id="38" name="Text 36"/>
          <p:cNvSpPr txBox="1"/>
          <p:nvPr/>
        </p:nvSpPr>
        <p:spPr>
          <a:xfrm>
            <a:off x="8366760" y="2148840"/>
            <a:ext cx="2834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F232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可交付性验证</a:t>
            </a:r>
            <a:endParaRPr lang="en-US" sz="1900" dirty="0"/>
          </a:p>
        </p:txBody>
      </p:sp>
      <p:sp>
        <p:nvSpPr>
          <p:cNvPr id="39" name="Text 37"/>
          <p:cNvSpPr txBox="1"/>
          <p:nvPr/>
        </p:nvSpPr>
        <p:spPr>
          <a:xfrm>
            <a:off x="8394192" y="2779776"/>
            <a:ext cx="2926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68706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✓</a:t>
            </a:r>
            <a:endParaRPr lang="en-US" sz="1200" dirty="0"/>
          </a:p>
        </p:txBody>
      </p:sp>
      <p:sp>
        <p:nvSpPr>
          <p:cNvPr id="40" name="Text 38"/>
          <p:cNvSpPr txBox="1"/>
          <p:nvPr/>
        </p:nvSpPr>
        <p:spPr>
          <a:xfrm>
            <a:off x="8759952" y="2761488"/>
            <a:ext cx="25054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42484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扩展 OMR 样本与准确率口径</a:t>
            </a:r>
            <a:endParaRPr lang="en-US" sz="1050" dirty="0"/>
          </a:p>
        </p:txBody>
      </p:sp>
      <p:sp>
        <p:nvSpPr>
          <p:cNvPr id="41" name="Text 39"/>
          <p:cNvSpPr txBox="1"/>
          <p:nvPr/>
        </p:nvSpPr>
        <p:spPr>
          <a:xfrm>
            <a:off x="8394192" y="3282696"/>
            <a:ext cx="2926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68706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✓</a:t>
            </a:r>
            <a:endParaRPr lang="en-US" sz="1200" dirty="0"/>
          </a:p>
        </p:txBody>
      </p:sp>
      <p:sp>
        <p:nvSpPr>
          <p:cNvPr id="42" name="Text 40"/>
          <p:cNvSpPr txBox="1"/>
          <p:nvPr/>
        </p:nvSpPr>
        <p:spPr>
          <a:xfrm>
            <a:off x="8759952" y="3264408"/>
            <a:ext cx="25054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42484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优化校正与多页路径</a:t>
            </a:r>
            <a:endParaRPr lang="en-US" sz="1050" dirty="0"/>
          </a:p>
        </p:txBody>
      </p:sp>
      <p:sp>
        <p:nvSpPr>
          <p:cNvPr id="43" name="Text 41"/>
          <p:cNvSpPr txBox="1"/>
          <p:nvPr/>
        </p:nvSpPr>
        <p:spPr>
          <a:xfrm>
            <a:off x="8394192" y="3785616"/>
            <a:ext cx="2926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68706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✓</a:t>
            </a:r>
            <a:endParaRPr lang="en-US" sz="1200" dirty="0"/>
          </a:p>
        </p:txBody>
      </p:sp>
      <p:sp>
        <p:nvSpPr>
          <p:cNvPr id="44" name="Text 42"/>
          <p:cNvSpPr txBox="1"/>
          <p:nvPr/>
        </p:nvSpPr>
        <p:spPr>
          <a:xfrm>
            <a:off x="8759952" y="3767328"/>
            <a:ext cx="25054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42484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交付方式 / 收费单位测试</a:t>
            </a:r>
            <a:endParaRPr lang="en-US" sz="1050" dirty="0"/>
          </a:p>
        </p:txBody>
      </p:sp>
      <p:sp>
        <p:nvSpPr>
          <p:cNvPr id="45" name="Text 43"/>
          <p:cNvSpPr txBox="1"/>
          <p:nvPr/>
        </p:nvSpPr>
        <p:spPr>
          <a:xfrm>
            <a:off x="8394192" y="4288536"/>
            <a:ext cx="2926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68706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✓</a:t>
            </a:r>
            <a:endParaRPr lang="en-US" sz="1200" dirty="0"/>
          </a:p>
        </p:txBody>
      </p:sp>
      <p:sp>
        <p:nvSpPr>
          <p:cNvPr id="46" name="Text 44"/>
          <p:cNvSpPr txBox="1"/>
          <p:nvPr/>
        </p:nvSpPr>
        <p:spPr>
          <a:xfrm>
            <a:off x="8759952" y="4270248"/>
            <a:ext cx="25054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42484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真实 MIDI 仅作兼容加分项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8366760" y="4901184"/>
            <a:ext cx="2926080" cy="0"/>
          </a:xfrm>
          <a:prstGeom prst="line">
            <a:avLst/>
          </a:prstGeom>
          <a:noFill/>
          <a:ln w="10160">
            <a:solidFill>
              <a:srgbClr val="D9DDD8"/>
            </a:solidFill>
            <a:prstDash val="solid"/>
            <a:headEnd type="none"/>
            <a:tailEnd type="none"/>
          </a:ln>
        </p:spPr>
      </p:sp>
      <p:sp>
        <p:nvSpPr>
          <p:cNvPr id="48" name="Text 46"/>
          <p:cNvSpPr txBox="1"/>
          <p:nvPr/>
        </p:nvSpPr>
        <p:spPr>
          <a:xfrm>
            <a:off x="8366760" y="5102352"/>
            <a:ext cx="2880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44C4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通过：指标、失败阈值、止损决策齐全</a:t>
            </a:r>
            <a:endParaRPr lang="en-US" sz="1000" dirty="0"/>
          </a:p>
        </p:txBody>
      </p:sp>
      <p:sp>
        <p:nvSpPr>
          <p:cNvPr id="49" name="Text 47"/>
          <p:cNvSpPr txBox="1"/>
          <p:nvPr/>
        </p:nvSpPr>
        <p:spPr>
          <a:xfrm>
            <a:off x="530352" y="5998464"/>
            <a:ext cx="9418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607D7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排序原则：用户完成核心闭环 &gt; 校正效率与结果可信 &gt; 多页/更多编辑 &gt; 物理 MIDI 兼容。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56848" y="6547104"/>
            <a:ext cx="384048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77D78"/>
                </a:solidFill>
                <a:latin typeface="Noto Sans CJK SC"/>
                <a:ea typeface="Noto Sans CJK SC"/>
                <a:cs typeface="Noto Sans CJK SC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38912" y="256032"/>
            <a:ext cx="5120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607D7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落地计划与资源需求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38912" y="566928"/>
            <a:ext cx="11155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把“能演示”推进为“有人完成、愿意再用、可以交付”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11155680" y="274320"/>
            <a:ext cx="5669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8706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09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12064" y="1481328"/>
            <a:ext cx="822960" cy="310896"/>
          </a:xfrm>
          <a:prstGeom prst="roundRect">
            <a:avLst>
              <a:gd name="adj" fmla="val 47059"/>
            </a:avLst>
          </a:prstGeom>
          <a:solidFill>
            <a:srgbClr val="FFF4A8"/>
          </a:solidFill>
          <a:ln w="8890">
            <a:solidFill>
              <a:srgbClr val="FFF4A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21792" y="1508760"/>
            <a:ext cx="6035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F232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08/22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554480" y="1444752"/>
            <a:ext cx="37673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F232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完成 ≥2 位学习者完整流程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554480" y="1828800"/>
            <a:ext cx="40965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68706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授权状态、操作录像/观察、原话、中断点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530352" y="2276856"/>
            <a:ext cx="5102352" cy="0"/>
          </a:xfrm>
          <a:prstGeom prst="line">
            <a:avLst/>
          </a:prstGeom>
          <a:noFill/>
          <a:ln w="10160">
            <a:solidFill>
              <a:srgbClr val="D9DDD8"/>
            </a:solidFill>
            <a:prstDash val="solid"/>
            <a:headEnd type="none"/>
            <a:tailEnd type="none"/>
          </a:ln>
        </p:spPr>
      </p:sp>
      <p:sp>
        <p:nvSpPr>
          <p:cNvPr id="10" name="Shape 8"/>
          <p:cNvSpPr/>
          <p:nvPr/>
        </p:nvSpPr>
        <p:spPr>
          <a:xfrm>
            <a:off x="512064" y="2505456"/>
            <a:ext cx="822960" cy="310896"/>
          </a:xfrm>
          <a:prstGeom prst="roundRect">
            <a:avLst>
              <a:gd name="adj" fmla="val 47059"/>
            </a:avLst>
          </a:prstGeom>
          <a:solidFill>
            <a:srgbClr val="FFF4A8"/>
          </a:solidFill>
          <a:ln w="8890">
            <a:solidFill>
              <a:srgbClr val="FFF4A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21792" y="2532888"/>
            <a:ext cx="6035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F232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08/22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1554480" y="2468880"/>
            <a:ext cx="37673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F232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剪出 ≤2 分钟项目介绍视频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1554480" y="2852928"/>
            <a:ext cx="40965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68706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定位、亮点、真机证据、边界一致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530352" y="3300984"/>
            <a:ext cx="5102352" cy="0"/>
          </a:xfrm>
          <a:prstGeom prst="line">
            <a:avLst/>
          </a:prstGeom>
          <a:noFill/>
          <a:ln w="10160">
            <a:solidFill>
              <a:srgbClr val="D9DDD8"/>
            </a:solidFill>
            <a:prstDash val="solid"/>
            <a:headEnd type="none"/>
            <a:tailEnd type="none"/>
          </a:ln>
        </p:spPr>
      </p:sp>
      <p:sp>
        <p:nvSpPr>
          <p:cNvPr id="15" name="Shape 13"/>
          <p:cNvSpPr/>
          <p:nvPr/>
        </p:nvSpPr>
        <p:spPr>
          <a:xfrm>
            <a:off x="512064" y="3529584"/>
            <a:ext cx="822960" cy="310896"/>
          </a:xfrm>
          <a:prstGeom prst="roundRect">
            <a:avLst>
              <a:gd name="adj" fmla="val 47059"/>
            </a:avLst>
          </a:prstGeom>
          <a:solidFill>
            <a:srgbClr val="FFF4A8"/>
          </a:solidFill>
          <a:ln w="8890">
            <a:solidFill>
              <a:srgbClr val="FFF4A8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21792" y="3557016"/>
            <a:ext cx="6035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F232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08/23</a:t>
            </a:r>
            <a:endParaRPr lang="en-US" sz="900" dirty="0"/>
          </a:p>
        </p:txBody>
      </p:sp>
      <p:sp>
        <p:nvSpPr>
          <p:cNvPr id="17" name="Text 15"/>
          <p:cNvSpPr txBox="1"/>
          <p:nvPr/>
        </p:nvSpPr>
        <p:spPr>
          <a:xfrm>
            <a:off x="1554480" y="3493008"/>
            <a:ext cx="37673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F232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定稿 BP + 更新 AIBBS + 队长提交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1554480" y="3877056"/>
            <a:ext cx="40965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68706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最终文件、更新稿、提交凭证归档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530352" y="4325112"/>
            <a:ext cx="5102352" cy="0"/>
          </a:xfrm>
          <a:prstGeom prst="line">
            <a:avLst/>
          </a:prstGeom>
          <a:noFill/>
          <a:ln w="10160">
            <a:solidFill>
              <a:srgbClr val="D9DDD8"/>
            </a:solidFill>
            <a:prstDash val="solid"/>
            <a:headEnd type="none"/>
            <a:tailEnd type="none"/>
          </a:ln>
        </p:spPr>
      </p:sp>
      <p:sp>
        <p:nvSpPr>
          <p:cNvPr id="20" name="Shape 18"/>
          <p:cNvSpPr/>
          <p:nvPr/>
        </p:nvSpPr>
        <p:spPr>
          <a:xfrm>
            <a:off x="512064" y="4553712"/>
            <a:ext cx="822960" cy="310896"/>
          </a:xfrm>
          <a:prstGeom prst="roundRect">
            <a:avLst>
              <a:gd name="adj" fmla="val 47059"/>
            </a:avLst>
          </a:prstGeom>
          <a:solidFill>
            <a:srgbClr val="DDE9E1"/>
          </a:solidFill>
          <a:ln w="8890">
            <a:solidFill>
              <a:srgbClr val="DDE9E1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21792" y="4581144"/>
            <a:ext cx="6035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F232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09/06</a:t>
            </a:r>
            <a:endParaRPr lang="en-US" sz="900" dirty="0"/>
          </a:p>
        </p:txBody>
      </p:sp>
      <p:sp>
        <p:nvSpPr>
          <p:cNvPr id="22" name="Text 20"/>
          <p:cNvSpPr txBox="1"/>
          <p:nvPr/>
        </p:nvSpPr>
        <p:spPr>
          <a:xfrm>
            <a:off x="1554480" y="4517136"/>
            <a:ext cx="37673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F232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完成首轮产品/收费单位复盘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1554480" y="4901184"/>
            <a:ext cx="40965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68706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问题优先级、继续/暂停指标、下一版范围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530352" y="5349240"/>
            <a:ext cx="5102352" cy="0"/>
          </a:xfrm>
          <a:prstGeom prst="line">
            <a:avLst/>
          </a:prstGeom>
          <a:noFill/>
          <a:ln w="10160">
            <a:solidFill>
              <a:srgbClr val="D9DDD8"/>
            </a:solidFill>
            <a:prstDash val="solid"/>
            <a:headEnd type="none"/>
            <a:tailEnd type="none"/>
          </a:ln>
        </p:spPr>
      </p:sp>
      <p:sp>
        <p:nvSpPr>
          <p:cNvPr id="25" name="Shape 23"/>
          <p:cNvSpPr/>
          <p:nvPr/>
        </p:nvSpPr>
        <p:spPr>
          <a:xfrm>
            <a:off x="6053328" y="1371600"/>
            <a:ext cx="5596128" cy="2249424"/>
          </a:xfrm>
          <a:prstGeom prst="roundRect">
            <a:avLst>
              <a:gd name="adj" fmla="val 5691"/>
            </a:avLst>
          </a:prstGeom>
          <a:solidFill>
            <a:srgbClr val="1F2320"/>
          </a:solidFill>
          <a:ln w="8890">
            <a:solidFill>
              <a:srgbClr val="1F2320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355080" y="1627632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本阶段需要的资源</a:t>
            </a:r>
            <a:endParaRPr lang="en-US" sz="1900" dirty="0"/>
          </a:p>
        </p:txBody>
      </p:sp>
      <p:sp>
        <p:nvSpPr>
          <p:cNvPr id="27" name="Text 25"/>
          <p:cNvSpPr txBox="1"/>
          <p:nvPr/>
        </p:nvSpPr>
        <p:spPr>
          <a:xfrm>
            <a:off x="6382512" y="2212848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4A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6656832" y="2185416"/>
            <a:ext cx="21579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2–3 位学习者 + 授权样本</a:t>
            </a:r>
            <a:endParaRPr lang="en-US" sz="1050" dirty="0"/>
          </a:p>
        </p:txBody>
      </p:sp>
      <p:sp>
        <p:nvSpPr>
          <p:cNvPr id="29" name="Text 27"/>
          <p:cNvSpPr txBox="1"/>
          <p:nvPr/>
        </p:nvSpPr>
        <p:spPr>
          <a:xfrm>
            <a:off x="8897112" y="2212848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4A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</a:t>
            </a:r>
            <a:endParaRPr lang="en-US" sz="1400" dirty="0"/>
          </a:p>
        </p:txBody>
      </p:sp>
      <p:sp>
        <p:nvSpPr>
          <p:cNvPr id="30" name="Text 28"/>
          <p:cNvSpPr txBox="1"/>
          <p:nvPr/>
        </p:nvSpPr>
        <p:spPr>
          <a:xfrm>
            <a:off x="9171432" y="2185416"/>
            <a:ext cx="21579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 位钢琴教师 / 乐理人员</a:t>
            </a:r>
            <a:endParaRPr lang="en-US" sz="1050" dirty="0"/>
          </a:p>
        </p:txBody>
      </p:sp>
      <p:sp>
        <p:nvSpPr>
          <p:cNvPr id="31" name="Text 29"/>
          <p:cNvSpPr txBox="1"/>
          <p:nvPr/>
        </p:nvSpPr>
        <p:spPr>
          <a:xfrm>
            <a:off x="6382512" y="278892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4A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</a:t>
            </a:r>
            <a:endParaRPr lang="en-US" sz="1400" dirty="0"/>
          </a:p>
        </p:txBody>
      </p:sp>
      <p:sp>
        <p:nvSpPr>
          <p:cNvPr id="32" name="Text 30"/>
          <p:cNvSpPr txBox="1"/>
          <p:nvPr/>
        </p:nvSpPr>
        <p:spPr>
          <a:xfrm>
            <a:off x="6656832" y="2761488"/>
            <a:ext cx="21579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OMR / AI 测试资源</a:t>
            </a:r>
            <a:endParaRPr lang="en-US" sz="1050" dirty="0"/>
          </a:p>
        </p:txBody>
      </p:sp>
      <p:sp>
        <p:nvSpPr>
          <p:cNvPr id="33" name="Text 31"/>
          <p:cNvSpPr txBox="1"/>
          <p:nvPr/>
        </p:nvSpPr>
        <p:spPr>
          <a:xfrm>
            <a:off x="8897112" y="278892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4A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</a:t>
            </a:r>
            <a:endParaRPr lang="en-US" sz="1400" dirty="0"/>
          </a:p>
        </p:txBody>
      </p:sp>
      <p:sp>
        <p:nvSpPr>
          <p:cNvPr id="34" name="Text 32"/>
          <p:cNvSpPr txBox="1"/>
          <p:nvPr/>
        </p:nvSpPr>
        <p:spPr>
          <a:xfrm>
            <a:off x="9171432" y="2761488"/>
            <a:ext cx="21579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Android 真机；MIDI 设备后置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6053328" y="3913632"/>
            <a:ext cx="5596128" cy="1572768"/>
          </a:xfrm>
          <a:prstGeom prst="roundRect">
            <a:avLst>
              <a:gd name="adj" fmla="val 8140"/>
            </a:avLst>
          </a:prstGeom>
          <a:solidFill>
            <a:srgbClr val="F3EFF9"/>
          </a:solidFill>
          <a:ln w="8890">
            <a:solidFill>
              <a:srgbClr val="EAE3F5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6327648" y="4142232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F232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团队与职责</a:t>
            </a:r>
            <a:endParaRPr lang="en-US" sz="1500" dirty="0"/>
          </a:p>
        </p:txBody>
      </p:sp>
      <p:sp>
        <p:nvSpPr>
          <p:cNvPr id="37" name="Text 35"/>
          <p:cNvSpPr txBox="1"/>
          <p:nvPr/>
        </p:nvSpPr>
        <p:spPr>
          <a:xfrm>
            <a:off x="6327648" y="4608576"/>
            <a:ext cx="24505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F232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弓宇豪 · 产品 / Android / 集成</a:t>
            </a:r>
            <a:endParaRPr lang="en-US" sz="1150" dirty="0"/>
          </a:p>
        </p:txBody>
      </p:sp>
      <p:sp>
        <p:nvSpPr>
          <p:cNvPr id="38" name="Text 36"/>
          <p:cNvSpPr txBox="1"/>
          <p:nvPr/>
        </p:nvSpPr>
        <p:spPr>
          <a:xfrm>
            <a:off x="8805672" y="4608576"/>
            <a:ext cx="24871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F232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胡锐 · 产品验证 / 内容 / 商务协同</a:t>
            </a:r>
            <a:endParaRPr lang="en-US" sz="1150" dirty="0"/>
          </a:p>
        </p:txBody>
      </p:sp>
      <p:sp>
        <p:nvSpPr>
          <p:cNvPr id="39" name="Text 37"/>
          <p:cNvSpPr txBox="1"/>
          <p:nvPr/>
        </p:nvSpPr>
        <p:spPr>
          <a:xfrm>
            <a:off x="6327648" y="5093208"/>
            <a:ext cx="4434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B44C4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职责需由团队最终确认；BP 不虚构外部合作或收入。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56848" y="6547104"/>
            <a:ext cx="384048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77D78"/>
                </a:solidFill>
                <a:latin typeface="Noto Sans CJK SC"/>
                <a:ea typeface="Noto Sans CJK SC"/>
                <a:cs typeface="Noto Sans CJK SC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38912" y="256032"/>
            <a:ext cx="5120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607D7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风险、依赖与下一步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38912" y="566928"/>
            <a:ext cx="11155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不把不确定性藏起来：每项风险都有触发阈值与止损动作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11155680" y="274320"/>
            <a:ext cx="5669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8706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10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1353312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68706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风险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2423160" y="13533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68706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当前事实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5623560" y="1353312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68706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缓解 / 止损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02920" y="1700784"/>
            <a:ext cx="11155680" cy="512064"/>
          </a:xfrm>
          <a:prstGeom prst="roundRect">
            <a:avLst>
              <a:gd name="adj" fmla="val 14286"/>
            </a:avLst>
          </a:prstGeom>
          <a:solidFill>
            <a:srgbClr val="EDF3EF"/>
          </a:solidFill>
          <a:ln w="8890">
            <a:solidFill>
              <a:srgbClr val="DDE9E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67512" y="1783080"/>
            <a:ext cx="14264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F232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OMR 泛化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2423160" y="1783080"/>
            <a:ext cx="27614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70" dirty="0">
                <a:solidFill>
                  <a:srgbClr val="42484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仅验证清晰单页</a:t>
            </a:r>
            <a:endParaRPr lang="en-US" sz="970" dirty="0"/>
          </a:p>
        </p:txBody>
      </p:sp>
      <p:sp>
        <p:nvSpPr>
          <p:cNvPr id="11" name="Text 9"/>
          <p:cNvSpPr txBox="1"/>
          <p:nvPr/>
        </p:nvSpPr>
        <p:spPr>
          <a:xfrm>
            <a:off x="5614416" y="1773936"/>
            <a:ext cx="56235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70" b="1" dirty="0">
                <a:solidFill>
                  <a:srgbClr val="607D7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扩样本并统计校正成本；复杂谱无数据不承诺</a:t>
            </a:r>
            <a:endParaRPr lang="en-US" sz="970" dirty="0"/>
          </a:p>
        </p:txBody>
      </p:sp>
      <p:sp>
        <p:nvSpPr>
          <p:cNvPr id="12" name="Shape 10"/>
          <p:cNvSpPr/>
          <p:nvPr/>
        </p:nvSpPr>
        <p:spPr>
          <a:xfrm>
            <a:off x="502920" y="2331720"/>
            <a:ext cx="11155680" cy="512064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8890">
            <a:solidFill>
              <a:srgbClr val="D9DDD8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67512" y="2414016"/>
            <a:ext cx="14264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F232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用户价值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2423160" y="2414016"/>
            <a:ext cx="27614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70" dirty="0">
                <a:solidFill>
                  <a:srgbClr val="42484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尚无完整学习者记录</a:t>
            </a:r>
            <a:endParaRPr lang="en-US" sz="970" dirty="0"/>
          </a:p>
        </p:txBody>
      </p:sp>
      <p:sp>
        <p:nvSpPr>
          <p:cNvPr id="15" name="Text 13"/>
          <p:cNvSpPr txBox="1"/>
          <p:nvPr/>
        </p:nvSpPr>
        <p:spPr>
          <a:xfrm>
            <a:off x="5614416" y="2404872"/>
            <a:ext cx="56235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70" b="1" dirty="0">
                <a:solidFill>
                  <a:srgbClr val="B44C4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若无法完成或不愿再用，先修核心路径而非加功能</a:t>
            </a:r>
            <a:endParaRPr lang="en-US" sz="970" dirty="0"/>
          </a:p>
        </p:txBody>
      </p:sp>
      <p:sp>
        <p:nvSpPr>
          <p:cNvPr id="16" name="Shape 14"/>
          <p:cNvSpPr/>
          <p:nvPr/>
        </p:nvSpPr>
        <p:spPr>
          <a:xfrm>
            <a:off x="502920" y="2962656"/>
            <a:ext cx="11155680" cy="512064"/>
          </a:xfrm>
          <a:prstGeom prst="roundRect">
            <a:avLst>
              <a:gd name="adj" fmla="val 14286"/>
            </a:avLst>
          </a:prstGeom>
          <a:solidFill>
            <a:srgbClr val="EDF3EF"/>
          </a:solidFill>
          <a:ln w="8890">
            <a:solidFill>
              <a:srgbClr val="DDE9E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67512" y="3044952"/>
            <a:ext cx="14264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F232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AI 解释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2423160" y="3044952"/>
            <a:ext cx="27614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70" dirty="0">
                <a:solidFill>
                  <a:srgbClr val="42484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真实 Flash 调用 ≠ 教学有效</a:t>
            </a:r>
            <a:endParaRPr lang="en-US" sz="970" dirty="0"/>
          </a:p>
        </p:txBody>
      </p:sp>
      <p:sp>
        <p:nvSpPr>
          <p:cNvPr id="19" name="Text 17"/>
          <p:cNvSpPr txBox="1"/>
          <p:nvPr/>
        </p:nvSpPr>
        <p:spPr>
          <a:xfrm>
            <a:off x="5614416" y="3035808"/>
            <a:ext cx="56235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70" b="1" dirty="0">
                <a:solidFill>
                  <a:srgbClr val="607D7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逐次授权 + 本地降级；教师评测前不宣称效果</a:t>
            </a:r>
            <a:endParaRPr lang="en-US" sz="970" dirty="0"/>
          </a:p>
        </p:txBody>
      </p:sp>
      <p:sp>
        <p:nvSpPr>
          <p:cNvPr id="20" name="Shape 18"/>
          <p:cNvSpPr/>
          <p:nvPr/>
        </p:nvSpPr>
        <p:spPr>
          <a:xfrm>
            <a:off x="502920" y="3593592"/>
            <a:ext cx="11155680" cy="512064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8890">
            <a:solidFill>
              <a:srgbClr val="D9DDD8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67512" y="3675888"/>
            <a:ext cx="14264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F232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商业闭环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2423160" y="3675888"/>
            <a:ext cx="27614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70" dirty="0">
                <a:solidFill>
                  <a:srgbClr val="42484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无价格 / 付费 / 意向证据</a:t>
            </a:r>
            <a:endParaRPr lang="en-US" sz="970" dirty="0"/>
          </a:p>
        </p:txBody>
      </p:sp>
      <p:sp>
        <p:nvSpPr>
          <p:cNvPr id="23" name="Text 21"/>
          <p:cNvSpPr txBox="1"/>
          <p:nvPr/>
        </p:nvSpPr>
        <p:spPr>
          <a:xfrm>
            <a:off x="5614416" y="3666744"/>
            <a:ext cx="56235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70" b="1" dirty="0">
                <a:solidFill>
                  <a:srgbClr val="B44C4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先验证收费单位；无价值交换则暂停商业扩张</a:t>
            </a:r>
            <a:endParaRPr lang="en-US" sz="970" dirty="0"/>
          </a:p>
        </p:txBody>
      </p:sp>
      <p:sp>
        <p:nvSpPr>
          <p:cNvPr id="24" name="Shape 22"/>
          <p:cNvSpPr/>
          <p:nvPr/>
        </p:nvSpPr>
        <p:spPr>
          <a:xfrm>
            <a:off x="502920" y="4224528"/>
            <a:ext cx="11155680" cy="512064"/>
          </a:xfrm>
          <a:prstGeom prst="roundRect">
            <a:avLst>
              <a:gd name="adj" fmla="val 14286"/>
            </a:avLst>
          </a:prstGeom>
          <a:solidFill>
            <a:srgbClr val="EDF3EF"/>
          </a:solidFill>
          <a:ln w="8890">
            <a:solidFill>
              <a:srgbClr val="DDE9E1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67512" y="4306824"/>
            <a:ext cx="14264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F232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部署与许可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2423160" y="4306824"/>
            <a:ext cx="27614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70" dirty="0">
                <a:solidFill>
                  <a:srgbClr val="42484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Audiveris companion / AGPL</a:t>
            </a:r>
            <a:endParaRPr lang="en-US" sz="970" dirty="0"/>
          </a:p>
        </p:txBody>
      </p:sp>
      <p:sp>
        <p:nvSpPr>
          <p:cNvPr id="27" name="Text 25"/>
          <p:cNvSpPr txBox="1"/>
          <p:nvPr/>
        </p:nvSpPr>
        <p:spPr>
          <a:xfrm>
            <a:off x="5614416" y="4297680"/>
            <a:ext cx="56235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70" b="1" dirty="0">
                <a:solidFill>
                  <a:srgbClr val="607D7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源码与许可边界进入交付清单；不可满足则停用部署</a:t>
            </a:r>
            <a:endParaRPr lang="en-US" sz="970" dirty="0"/>
          </a:p>
        </p:txBody>
      </p:sp>
      <p:sp>
        <p:nvSpPr>
          <p:cNvPr id="28" name="Shape 26"/>
          <p:cNvSpPr/>
          <p:nvPr/>
        </p:nvSpPr>
        <p:spPr>
          <a:xfrm>
            <a:off x="502920" y="4855464"/>
            <a:ext cx="11155680" cy="512064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8890">
            <a:solidFill>
              <a:srgbClr val="D9DDD8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67512" y="4937760"/>
            <a:ext cx="14264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F232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MIDI 兼容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2423160" y="4937760"/>
            <a:ext cx="27614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70" dirty="0">
                <a:solidFill>
                  <a:srgbClr val="42484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仅屏幕测试输入</a:t>
            </a:r>
            <a:endParaRPr lang="en-US" sz="970" dirty="0"/>
          </a:p>
        </p:txBody>
      </p:sp>
      <p:sp>
        <p:nvSpPr>
          <p:cNvPr id="31" name="Text 29"/>
          <p:cNvSpPr txBox="1"/>
          <p:nvPr/>
        </p:nvSpPr>
        <p:spPr>
          <a:xfrm>
            <a:off x="5614416" y="4928616"/>
            <a:ext cx="56235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70" b="1" dirty="0">
                <a:solidFill>
                  <a:srgbClr val="607D7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作为加分项后置，不阻塞核心练习闭环</a:t>
            </a:r>
            <a:endParaRPr lang="en-US" sz="970" dirty="0"/>
          </a:p>
        </p:txBody>
      </p:sp>
      <p:sp>
        <p:nvSpPr>
          <p:cNvPr id="32" name="Shape 30"/>
          <p:cNvSpPr/>
          <p:nvPr/>
        </p:nvSpPr>
        <p:spPr>
          <a:xfrm>
            <a:off x="502920" y="5650992"/>
            <a:ext cx="11155680" cy="621792"/>
          </a:xfrm>
          <a:prstGeom prst="roundRect">
            <a:avLst>
              <a:gd name="adj" fmla="val 17647"/>
            </a:avLst>
          </a:prstGeom>
          <a:solidFill>
            <a:srgbClr val="1F2320"/>
          </a:solidFill>
          <a:ln w="8890">
            <a:solidFill>
              <a:srgbClr val="1F2320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749808" y="5815584"/>
            <a:ext cx="1508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4A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下一步唯一关键问题</a:t>
            </a:r>
            <a:endParaRPr lang="en-US" sz="1000" dirty="0"/>
          </a:p>
        </p:txBody>
      </p:sp>
      <p:sp>
        <p:nvSpPr>
          <p:cNvPr id="34" name="Text 32"/>
          <p:cNvSpPr txBox="1"/>
          <p:nvPr/>
        </p:nvSpPr>
        <p:spPr>
          <a:xfrm>
            <a:off x="2395728" y="5742432"/>
            <a:ext cx="8869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当学习者卡在自己的某一小节时，Gpiano 是否真的降低练习阻力，且校正成本可接受？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56848" y="6547104"/>
            <a:ext cx="384048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77D78"/>
                </a:solidFill>
                <a:latin typeface="Noto Sans CJK SC"/>
                <a:ea typeface="Noto Sans CJK SC"/>
                <a:cs typeface="Noto Sans CJK SC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ans CJK S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oto Sans CJK S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指间流韵队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Gpiano AI：让静态琴谱变成适合自己练的琴谱</dc:title>
  <dc:subject>Gpiano AI 商业 BP</dc:subject>
  <dc:creator>指间流韵队</dc:creator>
  <cp:lastModifiedBy>指间流韵队</cp:lastModifiedBy>
  <cp:revision>1</cp:revision>
  <dcterms:created xsi:type="dcterms:W3CDTF">2026-08-21T11:43:31Z</dcterms:created>
  <dcterms:modified xsi:type="dcterms:W3CDTF">2026-08-21T11:43:31Z</dcterms:modified>
</cp:coreProperties>
</file>