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我们不做又一个在线曲库，也不靠一句 AI 建议完成练习。Gpiano 的定位，是把用户自己的单页琴谱变成可核对、可执行、可恢复的个人练习材料。
[/Narration]
[Sources]
- PROJECT_BRIEF.md
- 比赛资料/第三周/output/Gpiano-AI商业BP-正式版-v2.md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我们把用户拆成两类具体角色。初学者需要把难小节直接变成右手、慢速、循环任务；有基础者需要保存练法和差异摘要。这里的反馈是模拟走查，真正商业验证看三十人里是否有十人复用、三人付费。
[/Narration]
[Sources]
- 比赛资料/第三周/input/访谈/双角色模拟用户走查-2026-08-23.md
- https://npo059087.npoall.com/news/itemid-170910.html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我们的竞争策略很克制：不比曲库和专业制谱能力，只验证自有琴谱转练习材料这一段是否值得付费。五个数字决定能否继续，而不是 PPT 上的形容词。
[/Narration]
[Sources]
- https://www.flowkey.com/zh
- https://www.zubersoft.com/mobilesheets/
- 比赛资料/第三周/output/Gpiano-AI商业BP-正式版-v2.md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现有资产证明闭环可运行：真实样谱、版本差异、数据库迁移、备份和测试都已存在。但模拟走查暴露了四个阻断点，下一阶段首先改语言、核对重点、差异摘要和练习续接。
[/Narration]
[Sources]
- docs/context-sync/current-status.md
- 比赛资料/第三周/output/evidence/核心流程真机录屏说明.md
- app/schemas/com.gpiano.app.data.GpianoDatabase/11.json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外部价值按角色区分：初学者需要立刻知道今天练什么，有基础者需要续接上次练法，教师需要看到变化。内部则积累校正、规则、预设和版本数据，形成练习材料加工层。
[/Narration]
[Sources]
- PROJECT_CHARTER.md
- docs/product/requirements.md
- 比赛资料/第三周/input/访谈/双角色模拟用户走查-2026-08-23.md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产品能力按模板分成四类。我们已有一条自有谱到独立练习版的组合路径，但平台内容、成熟听弹反馈和专业制谱仍明显落后，多页识别与物理 MIDI 也不在当前承诺内。
[/Narration]
[Sources]
- docs/decisions/ADR-0001-local-first.md
- docs/decisions/ADR-0016-consented-score-ai-companion.md
- docs/decisions/ADR-0017-editable-practice-version-revisions.md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商业模式分为免费、单曲包和订阅。初学者可能从九块九单曲开始，有基础者才可能订阅。价格只是实验，口头选择不算收入，至少三笔真实支付之后才增加获客和云成本。
[/Narration]
[Sources]
- 比赛资料/第三周/output/Gpiano-AI商业BP-正式版-v2.md
- 比赛资料/第三周/input/访谈/双角色模拟用户走查-2026-08-23.md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需求排序直接来自两类角色。P0 解决看不懂，P1 解决不能续练，P2 才是 MIDI 和泛化能力。两周内先做可理解 MVP，九十天只看二十人完成、十人复用、三人付费。
[/Narration]
[Sources]
- 比赛资料/第三周/input/访谈/双角色模拟用户走查-2026-08-23.md
- 比赛资料/第三周/output/Gpiano-AI商业BP-正式版-v2.md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行动计划按日期验收。预算上限五千元，其中用户激励优先。最关键的是支出闸门：可理解性没过就不买 MIDI，没有真实支付就不扩大云成本和获客。
[/Narration]
[Sources]
- docs/context-sync/current-status.md
- 比赛资料/第三周/output/Gpiano-AI商业BP-正式版-v2.md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最后只保留三条继续条件：用户五分钟内能开始练，至少三分之一一周内再用，并出现三笔真实支付。任何一条不成立，都不靠增加功能掩盖，而是回到识别、理解或价值问题。
[/Narration]
[Sources]
- 比赛资料/第三周/output/Gpiano-AI商业BP-正式版-v2.md
- docs/product/requirements.md
- docs/decisions/ADR-0001-local-first.md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65992" cy="0"/>
          </a:xfrm>
          <a:prstGeom prst="line">
            <a:avLst/>
          </a:prstGeom>
          <a:noFill/>
          <a:ln w="8890">
            <a:solidFill>
              <a:srgbClr val="D9DD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主理人出道计划 · 商业 BP V2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932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75488" y="1517904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把自己的琴谱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变成今天就能练的方案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90672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面向有自有或已获授权琴谱的初学者与进阶学习者：先把单页琴谱转成可核对结构，再选段、慢练、分手练，并保存不覆盖原谱的个人练习版本。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407408"/>
            <a:ext cx="1024128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442569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不是曲库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64208" y="4407408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442569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不是聊天答案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4407408"/>
            <a:ext cx="1499616" cy="283464"/>
          </a:xfrm>
          <a:prstGeom prst="roundRect">
            <a:avLst>
              <a:gd name="adj" fmla="val 48387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7832" y="442569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是一条练习闭环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2578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弓宇豪 / 胡锐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2026.08.23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42632" y="356616"/>
            <a:ext cx="2706624" cy="4718304"/>
          </a:xfrm>
          <a:prstGeom prst="roundRect">
            <a:avLst>
              <a:gd name="adj" fmla="val 6757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pic>
        <p:nvPicPr>
          <p:cNvPr id="14" name="Image 0" descr="/home/thundersoft/AF-GYH/Gpiano/tmp/bp-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20624"/>
            <a:ext cx="2578608" cy="459028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99632" y="1042416"/>
            <a:ext cx="1554480" cy="713232"/>
          </a:xfrm>
          <a:prstGeom prst="roundRect">
            <a:avLst>
              <a:gd name="adj" fmla="val 15385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7648" y="113385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≤5 分钟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481328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目标：首次得到可练选段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9509760" y="4681728"/>
            <a:ext cx="1828800" cy="713232"/>
          </a:xfrm>
          <a:prstGeom prst="roundRect">
            <a:avLst>
              <a:gd name="adj" fmla="val 15385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37776" y="47731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9637776" y="5120640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每次调整都可撤回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市场与用户问题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两类学习者的共同问题：不是没谱，而是谱到手后不会练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2788920" cy="4553712"/>
          </a:xfrm>
          <a:prstGeom prst="roundRect">
            <a:avLst>
              <a:gd name="adj" fmla="val 3934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673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282.26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亿元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59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8DD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中国乐器产业总营收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1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这是行业规模代理，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1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 Gpiano 的 TAM。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9136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 90 天验证一个可触达的小市场，再讨论放大。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35024"/>
            <a:ext cx="8138160" cy="1700784"/>
          </a:xfrm>
          <a:prstGeom prst="roundRect">
            <a:avLst>
              <a:gd name="adj" fmla="val 6452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499616"/>
            <a:ext cx="1682496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67912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A｜初学 6 个月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9019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要：右手、75% 速度、循环一个难小节</a:t>
            </a:r>
            <a:endParaRPr lang="en-US" sz="122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304288"/>
            <a:ext cx="5358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卡：看不懂“结构事件 / 修订 ID”；125 项差异像 125 个错误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19110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模拟价格选择：¥9.9/份 或 ¥19.9/月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273552"/>
            <a:ext cx="8138160" cy="1700784"/>
          </a:xfrm>
          <a:prstGeom prst="roundRect">
            <a:avLst>
              <a:gd name="adj" fmla="val 6452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3438144"/>
            <a:ext cx="1682496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67912" y="345643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B｜学琴 3 年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8404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要：保存上次选段、速度和版本；下次直接继续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4242816"/>
            <a:ext cx="5358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卡：差异必须按小节和动作解释，AI 要回答具体卡点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8496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模拟价格选择：¥29/月 或 ¥199/年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257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模拟走查，仅用于发现问题；不是实际访谈、支付或市场证据。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41080" y="5084064"/>
            <a:ext cx="621792" cy="65836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1080" y="515721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54498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272016" y="5404104"/>
            <a:ext cx="1188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00032" y="5084064"/>
            <a:ext cx="621792" cy="65836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00032" y="515721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400032" y="54498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030968" y="5404104"/>
            <a:ext cx="1188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58984" y="5084064"/>
            <a:ext cx="621792" cy="65836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58984" y="515721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158984" y="54498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789920" y="5404104"/>
            <a:ext cx="1188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917936" y="5084064"/>
            <a:ext cx="621792" cy="658368"/>
          </a:xfrm>
          <a:prstGeom prst="roundRect">
            <a:avLst>
              <a:gd name="adj" fmla="val 14706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917936" y="515721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917936" y="54498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竞争与差异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不和强者比曲库规模；只抢“自己的谱如何变成练习材料”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1353312"/>
            <a:ext cx="2596896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36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flowkey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4767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平台曲库 + 课程跟练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50592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强：成熟课程、即时反馈</a:t>
            </a:r>
            <a:endParaRPr lang="en-US" sz="94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898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缺：用户自有谱改练法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328416" y="1353312"/>
            <a:ext cx="2596896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1296" y="1536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MobileSheets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194767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 / 批注 / 翻页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450592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强：曲谱管理和演出使用</a:t>
            </a:r>
            <a:endParaRPr lang="en-US" sz="94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2898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缺：结构化派生练习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81344" y="1353312"/>
            <a:ext cx="2596896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536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MuseScore 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194767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专业制谱与编辑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450592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强：自由度和格式生态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898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缺：初学者练习决策门槛高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9034272" y="1353312"/>
            <a:ext cx="2596896" cy="2212848"/>
          </a:xfrm>
          <a:prstGeom prst="roundRect">
            <a:avLst>
              <a:gd name="adj" fmla="val 4959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17152" y="1536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194767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自有谱 → 可练版本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2450592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强：核对、选段、派生、恢复</a:t>
            </a:r>
            <a:endParaRPr lang="en-US" sz="94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2898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短板：泛化与付费待验证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关键成功条件（不是宣传语，是验收门）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1975104" cy="713232"/>
          </a:xfrm>
          <a:prstGeom prst="roundRect">
            <a:avLst>
              <a:gd name="adj" fmla="val 15385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" y="44622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≤5 分钟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4809744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首次可练选段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2807208" y="4370832"/>
            <a:ext cx="1975104" cy="713232"/>
          </a:xfrm>
          <a:prstGeom prst="roundRect">
            <a:avLst>
              <a:gd name="adj" fmla="val 15385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35224" y="44622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6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2935224" y="4809744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任务独立完成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111496" y="4370832"/>
            <a:ext cx="1975104" cy="713232"/>
          </a:xfrm>
          <a:prstGeom prst="roundRect">
            <a:avLst>
              <a:gd name="adj" fmla="val 15385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39512" y="44622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秒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5239512" y="4809744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说清版本差异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415784" y="4370832"/>
            <a:ext cx="1975104" cy="713232"/>
          </a:xfrm>
          <a:prstGeom prst="roundRect">
            <a:avLst>
              <a:gd name="adj" fmla="val 15385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43800" y="44622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30</a:t>
            </a:r>
            <a:endParaRPr lang="en-US" sz="2100" dirty="0"/>
          </a:p>
        </p:txBody>
      </p:sp>
      <p:sp>
        <p:nvSpPr>
          <p:cNvPr id="37" name="Text 35"/>
          <p:cNvSpPr txBox="1"/>
          <p:nvPr/>
        </p:nvSpPr>
        <p:spPr>
          <a:xfrm>
            <a:off x="7543800" y="4809744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一周内复用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9720072" y="4370832"/>
            <a:ext cx="1975104" cy="713232"/>
          </a:xfrm>
          <a:prstGeom prst="roundRect">
            <a:avLst>
              <a:gd name="adj" fmla="val 15385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48088" y="44622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30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9848088" y="4809744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真实付费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02920" y="5413248"/>
            <a:ext cx="11201400" cy="566928"/>
          </a:xfrm>
          <a:prstGeom prst="roundRect">
            <a:avLst>
              <a:gd name="adj" fmla="val 19355"/>
            </a:avLst>
          </a:prstGeom>
          <a:solidFill>
            <a:srgbClr val="F0F1E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55504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SWOT｜强：闭环已跑通、本地可恢复　弱：单页 OMR、校正成本　机：存量琴谱练习数字化　险：识别失败、教师信任与版权边界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当前资产与制胜点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我们不是从概念起步；但技术跑通不等于用户成立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44475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小节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792224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真实结构化样谱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651760" y="135331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44475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 项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779776" y="1792224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派生版本差异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800600" y="135331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ECF4FD"/>
          </a:solidFill>
          <a:ln w="8890">
            <a:solidFill>
              <a:srgbClr val="ECF4F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144475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Room v11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1792224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本地数据迁移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949440" y="135331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77456" y="144475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.gpiano v6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7077456" y="1792224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备份与旧版导入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9098280" y="1353312"/>
            <a:ext cx="1965960" cy="713232"/>
          </a:xfrm>
          <a:prstGeom prst="roundRect">
            <a:avLst>
              <a:gd name="adj" fmla="val 15385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144475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24+5+4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1792224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相关自动化测试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2560320" cy="1243584"/>
          </a:xfrm>
          <a:prstGeom prst="roundRect">
            <a:avLst>
              <a:gd name="adj" fmla="val 8824"/>
            </a:avLst>
          </a:prstGeom>
          <a:solidFill>
            <a:srgbClr val="EEF4F0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487168"/>
            <a:ext cx="64008" cy="1243584"/>
          </a:xfrm>
          <a:prstGeom prst="rect">
            <a:avLst/>
          </a:prstGeom>
          <a:solidFill>
            <a:srgbClr val="567566"/>
          </a:solidFill>
          <a:ln w="12700">
            <a:solidFill>
              <a:srgbClr val="5675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2999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OMR 先成为草稿；用户能回看原谱并修改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291840" y="2487168"/>
            <a:ext cx="2560320" cy="1243584"/>
          </a:xfrm>
          <a:prstGeom prst="roundRect">
            <a:avLst>
              <a:gd name="adj" fmla="val 8824"/>
            </a:avLst>
          </a:prstGeom>
          <a:solidFill>
            <a:srgbClr val="F5F1FA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487168"/>
            <a:ext cx="64008" cy="1243584"/>
          </a:xfrm>
          <a:prstGeom prst="rect">
            <a:avLst/>
          </a:prstGeom>
          <a:solidFill>
            <a:srgbClr val="66527C"/>
          </a:solidFill>
          <a:ln w="12700">
            <a:solidFill>
              <a:srgbClr val="66527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9300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可执行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493008" y="2999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选小节、左右手、速度、循环，直接生成练习任务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080760" y="2487168"/>
            <a:ext cx="2560320" cy="1243584"/>
          </a:xfrm>
          <a:prstGeom prst="roundRect">
            <a:avLst>
              <a:gd name="adj" fmla="val 8824"/>
            </a:avLst>
          </a:prstGeom>
          <a:solidFill>
            <a:srgbClr val="EEF4F0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487168"/>
            <a:ext cx="64008" cy="1243584"/>
          </a:xfrm>
          <a:prstGeom prst="rect">
            <a:avLst/>
          </a:prstGeom>
          <a:solidFill>
            <a:srgbClr val="567566"/>
          </a:solidFill>
          <a:ln w="12700">
            <a:solidFill>
              <a:srgbClr val="56756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8192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2999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派生版本不覆盖主谱，可撤销、重做、保留历史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8869680" y="2487168"/>
            <a:ext cx="2560320" cy="1243584"/>
          </a:xfrm>
          <a:prstGeom prst="roundRect">
            <a:avLst>
              <a:gd name="adj" fmla="val 8824"/>
            </a:avLst>
          </a:prstGeom>
          <a:solidFill>
            <a:srgbClr val="F5F1FA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2487168"/>
            <a:ext cx="64008" cy="1243584"/>
          </a:xfrm>
          <a:prstGeom prst="rect">
            <a:avLst/>
          </a:prstGeom>
          <a:solidFill>
            <a:srgbClr val="66527C"/>
          </a:solidFill>
          <a:ln w="12700">
            <a:solidFill>
              <a:srgbClr val="66527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7084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可带走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70848" y="2999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MusicXML 与 .gpiano 备份保留用户资产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02920" y="4069080"/>
            <a:ext cx="11155680" cy="1508760"/>
          </a:xfrm>
          <a:prstGeom prst="roundRect">
            <a:avLst>
              <a:gd name="adj" fmla="val 7273"/>
            </a:avLst>
          </a:prstGeom>
          <a:solidFill>
            <a:srgbClr val="F8ECEA"/>
          </a:solidFill>
          <a:ln w="8890">
            <a:solidFill>
              <a:srgbClr val="B44C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261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仍未满足的用户需求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470916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把“结构化草稿 / 修订 ID”改成用户语言　② 识别结果先给核对重点，不丢 125 项差异　③ 差异按小节和动作总结　④ 保存上次练习位置、速度和版本</a:t>
            </a:r>
            <a:endParaRPr lang="en-US" sz="123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33095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这些缺口直接进入 T+1，不用“AI 更聪明”掩盖。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产品价值与内部资产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用户买的不是 AI 次数，而是少一次迷路、多一次有效练习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38912" y="1289304"/>
            <a:ext cx="2487168" cy="4325112"/>
          </a:xfrm>
          <a:prstGeom prst="roundRect">
            <a:avLst>
              <a:gd name="adj" fmla="val 7353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pic>
        <p:nvPicPr>
          <p:cNvPr id="6" name="Image 0" descr="/home/thundersoft/AF-GYH/Gpiano/tmp/bp-assets/gui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2359152" cy="419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6120" y="137160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527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初学者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今天练什么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108192" y="1517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难小节 → 右手 / 75% / 循环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15179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分钟内开始练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404872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有基础者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560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下次怎么接着练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108192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保存位置 / 速度 / 版本 / 差异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25511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打开即续练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3438144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3593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 / 陪练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发生了什么变化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108192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原谱、主谱、练习版关系可追溯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64692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减少解释成本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273552" y="47000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可积累的内部资产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73552" y="5102352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46704" y="51206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校正样本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846320" y="5102352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19472" y="51206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受约束编辑规则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19088" y="5102352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51206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练习预设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991856" y="5102352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65008" y="51206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版本差异数据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564624" y="5102352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37776" y="51206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本地数据格式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3273552" y="5687568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核心位置：自有琴谱进入课程、陪练或自练之前的“练习材料加工层”。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产品方案与能力状态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一条闭环，四种能力状态：已形成差异，也坦白追赶项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人无我有*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74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单页自有谱 → 可校正结构 → 独立练习版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*基于公开入口核对，待持续验证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346704" y="131673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人有我优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1874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原谱不覆盖、逐项差异、备份与标准导出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优势需要用户任务验证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236208" y="131673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人优我赶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74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成熟曲库、听弹反馈、专业自由制谱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不在当前 90 天硬追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25712" y="1316736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8ECEA"/>
          </a:solidFill>
          <a:ln w="8890">
            <a:solidFill>
              <a:srgbClr val="F8EC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0304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暂无能力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1874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多页/PDF 泛化、像素级映射、物理 MIDI 矩阵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90304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先守住核心闭环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02920" y="321868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19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57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导入授权单页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95728" y="3566160"/>
            <a:ext cx="3474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07208" y="321868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44368" y="3319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944368" y="3557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识别并核对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0016" y="3566160"/>
            <a:ext cx="3474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11496" y="321868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48656" y="3319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248656" y="3557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选段练习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04304" y="3566160"/>
            <a:ext cx="3474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15784" y="321868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52944" y="3319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552944" y="3557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生成独立版本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08592" y="3566160"/>
            <a:ext cx="347472" cy="0"/>
          </a:xfrm>
          <a:prstGeom prst="line">
            <a:avLst/>
          </a:prstGeom>
          <a:noFill/>
          <a:ln w="13970">
            <a:solidFill>
              <a:srgbClr val="3D433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20072" y="321868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57232" y="3319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857232" y="3557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 / 下次续练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30352" y="4315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17320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490472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原始谱面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81528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54680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结构化主谱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45736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18888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练习预设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9944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83096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派生版本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74152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DDE9E1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47304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差异摘要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38360" y="4242816"/>
            <a:ext cx="1417320" cy="283464"/>
          </a:xfrm>
          <a:prstGeom prst="roundRect">
            <a:avLst>
              <a:gd name="adj" fmla="val 48387"/>
            </a:avLst>
          </a:prstGeom>
          <a:solidFill>
            <a:srgbClr val="EAE3F5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11512" y="426110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MusicXML / .gpiano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811512" y="4617720"/>
            <a:ext cx="1088136" cy="1837944"/>
          </a:xfrm>
          <a:prstGeom prst="roundRect">
            <a:avLst>
              <a:gd name="adj" fmla="val 16807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pic>
        <p:nvPicPr>
          <p:cNvPr id="54" name="Image 0" descr="/home/thundersoft/AF-GYH/Gpiano/tmp/bp-assets/ai-cons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81728"/>
            <a:ext cx="960120" cy="1709928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530352" y="506577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云端 AI 仅在逐次同意后发送当前选段最小摘要；无网仍可完成本地核心练习。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商业模式与价格实验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先卖“一个卡点被解决”，再验证订阅；价格不是拍板，是 A/B 测试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1335024"/>
            <a:ext cx="2596896" cy="2395728"/>
          </a:xfrm>
          <a:prstGeom prst="roundRect">
            <a:avLst>
              <a:gd name="adj" fmla="val 4580"/>
            </a:avLst>
          </a:prstGeom>
          <a:solidFill>
            <a:srgbClr val="EEF4F0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270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免费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9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2374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曲谱库 / 阅读 / 节拍器 / 示例谱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 1 次受限转换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58368" y="3300984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F0F1EF"/>
          </a:solidFill>
          <a:ln w="8890">
            <a:solidFill>
              <a:srgbClr val="F0F1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192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验证首次价值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28416" y="1335024"/>
            <a:ext cx="2596896" cy="2395728"/>
          </a:xfrm>
          <a:prstGeom prst="roundRect">
            <a:avLst>
              <a:gd name="adj" fmla="val 4580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15270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单曲练习包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1929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¥9.9 / 份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252374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页校正 + 选段练习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个练习版本 + 导出恢复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511296" y="3300984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84448" y="33192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低风险首单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81344" y="1335024"/>
            <a:ext cx="2596896" cy="2395728"/>
          </a:xfrm>
          <a:prstGeom prst="roundRect">
            <a:avLst>
              <a:gd name="adj" fmla="val 4580"/>
            </a:avLst>
          </a:prstGeom>
          <a:solidFill>
            <a:srgbClr val="EEF4F0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15270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月付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1929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¥29 / 月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52374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 10 次转换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无限本地预设 / 版本 / AI 选段指导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364224" y="3300984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F0F1EF"/>
          </a:solidFill>
          <a:ln w="8890">
            <a:solidFill>
              <a:srgbClr val="F0F1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33192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高频练习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34272" y="1335024"/>
            <a:ext cx="2596896" cy="2395728"/>
          </a:xfrm>
          <a:prstGeom prst="roundRect">
            <a:avLst>
              <a:gd name="adj" fmla="val 4580"/>
            </a:avLst>
          </a:prstGeom>
          <a:solidFill>
            <a:srgbClr val="F5F1FA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17152" y="15270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年付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192938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¥199 / 年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52374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 Pro；验证长期续练意愿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217152" y="3300984"/>
            <a:ext cx="1353312" cy="283464"/>
          </a:xfrm>
          <a:prstGeom prst="roundRect">
            <a:avLst>
              <a:gd name="adj" fmla="val 48387"/>
            </a:avLst>
          </a:prstGeom>
          <a:solidFill>
            <a:srgbClr val="F0F1EF"/>
          </a:solidFill>
          <a:ln w="8890">
            <a:solidFill>
              <a:srgbClr val="F0F1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90304" y="33192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3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降低决策频次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096512"/>
            <a:ext cx="5285232" cy="1435608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315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钱从哪里来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69087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成人学习者：兴趣 / 效率工具预算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青少年：家长课后练习与陪练预算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16752" y="4096512"/>
            <a:ext cx="5669280" cy="1435608"/>
          </a:xfrm>
          <a:prstGeom prst="roundRect">
            <a:avLst>
              <a:gd name="adj" fmla="val 7643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4315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1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商业验证门槛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690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人完成价格选择 ≠ 付费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 ≥3 笔真实支付，才进入获客和云成本扩张。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" y="5824728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 → 支付识别 / AI 成本 → 更好校正与练习规则 → 更高复用；不先建重内容库。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需求排序与路线图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先让人看懂并重复使用，再谈 MIDI 和规模化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3456432" cy="1426464"/>
          </a:xfrm>
          <a:prstGeom prst="roundRect">
            <a:avLst>
              <a:gd name="adj" fmla="val 7692"/>
            </a:avLst>
          </a:prstGeom>
          <a:solidFill>
            <a:srgbClr val="B44C45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35024"/>
            <a:ext cx="64008" cy="1426464"/>
          </a:xfrm>
          <a:prstGeom prst="rect">
            <a:avLst/>
          </a:prstGeom>
          <a:solidFill>
            <a:srgbClr val="567566"/>
          </a:solidFill>
          <a:ln w="12700">
            <a:solidFill>
              <a:srgbClr val="5675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P0｜阻断完成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847088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用户语言替换技术词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核对重点 / 差异摘要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一步进入修正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233672" y="1335024"/>
            <a:ext cx="3456432" cy="1426464"/>
          </a:xfrm>
          <a:prstGeom prst="roundRect">
            <a:avLst>
              <a:gd name="adj" fmla="val 7692"/>
            </a:avLst>
          </a:prstGeom>
          <a:solidFill>
            <a:srgbClr val="567566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335024"/>
            <a:ext cx="64008" cy="1426464"/>
          </a:xfrm>
          <a:prstGeom prst="rect">
            <a:avLst/>
          </a:prstGeom>
          <a:solidFill>
            <a:srgbClr val="567566"/>
          </a:solidFill>
          <a:ln w="12700">
            <a:solidFill>
              <a:srgbClr val="5675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P1｜驱动复用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47088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保存选段、手型、速度、循环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记住上次位置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版本可命名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964424" y="1335024"/>
            <a:ext cx="3456432" cy="1426464"/>
          </a:xfrm>
          <a:prstGeom prst="roundRect">
            <a:avLst>
              <a:gd name="adj" fmla="val 7692"/>
            </a:avLst>
          </a:prstGeom>
          <a:solidFill>
            <a:srgbClr val="66527C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64424" y="1335024"/>
            <a:ext cx="64008" cy="1426464"/>
          </a:xfrm>
          <a:prstGeom prst="rect">
            <a:avLst/>
          </a:prstGeom>
          <a:solidFill>
            <a:srgbClr val="567566"/>
          </a:solidFill>
          <a:ln w="12700">
            <a:solidFill>
              <a:srgbClr val="5675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65592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P2｜形成增益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165592" y="1847088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真实设备 MIDI 接入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更细听弹反馈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多页 / PDF OMR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02920" y="3236976"/>
            <a:ext cx="11173968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383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T｜已完成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37413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 MVP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67328" y="3364992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OMR、结构谱、选段、派生版本、导出恢复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364992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证据：真机录屏 + 测试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11173968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8890">
            <a:solidFill>
              <a:srgbClr val="D9DD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24281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T+1｜8/24–9/6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42336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可理解 MVP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767328" y="4224528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 P0；2–5 名真实用户任务测试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4224528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门：5/6 任务、首练 ≤5 分钟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4956048"/>
            <a:ext cx="11173968" cy="676656"/>
          </a:xfrm>
          <a:prstGeom prst="roundRect">
            <a:avLst>
              <a:gd name="adj" fmla="val 16216"/>
            </a:avLst>
          </a:prstGeom>
          <a:solidFill>
            <a:srgbClr val="FFF1A6"/>
          </a:solidFill>
          <a:ln w="8890">
            <a:solidFill>
              <a:srgbClr val="FFF1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51023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T+2｜9/7–10/15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509320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 Beta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67328" y="5084064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 P1；30 人池、价格实验、复用观察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5084064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门：20 完成 / 10 复用 / 3 付费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SMART 行动与资源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每个里程碑都有日期、证据和不继续花钱的条件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7114032" cy="557784"/>
          </a:xfrm>
          <a:prstGeom prst="roundRect">
            <a:avLst>
              <a:gd name="adj" fmla="val 19672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40817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 可点击原型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72384" y="14081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弓宇豪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95344" y="140817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术语、核对重点、差异摘要可走查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7114032" cy="557784"/>
          </a:xfrm>
          <a:prstGeom prst="roundRect">
            <a:avLst>
              <a:gd name="adj" fmla="val 19672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112264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10312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名真实用户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103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胡锐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10312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全程录屏 + 任务失败点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7114032" cy="557784"/>
          </a:xfrm>
          <a:prstGeom prst="roundRect">
            <a:avLst>
              <a:gd name="adj" fmla="val 19672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807208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09/06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27980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可理解 MVP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72384" y="2798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双人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79806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人；5/6 任务、首练 ≤5 分钟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7114032" cy="557784"/>
          </a:xfrm>
          <a:prstGeom prst="roundRect">
            <a:avLst>
              <a:gd name="adj" fmla="val 19672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02152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09/20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349300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价格实验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072384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895344" y="349300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≥10 份有效选择；不当作支付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02920" y="4078224"/>
            <a:ext cx="7114032" cy="557784"/>
          </a:xfrm>
          <a:prstGeom prst="roundRect">
            <a:avLst>
              <a:gd name="adj" fmla="val 19672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97096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418795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人 Beta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072384" y="41879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双人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895344" y="418795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完成 / 10 复用 / 3 真实支付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909560" y="1298448"/>
            <a:ext cx="3776472" cy="3319272"/>
          </a:xfrm>
          <a:prstGeom prst="roundRect">
            <a:avLst>
              <a:gd name="adj" fmla="val 3306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1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 天预算上限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1956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¥5,000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2697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7DD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用户激励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305288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¥1,500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193024" y="3081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7DD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 / AI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0305288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¥1,000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93024" y="34655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7DD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MIDI 设备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305288" y="3465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¥1,500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193024" y="38496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7DD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 / 材料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305288" y="38496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09560" y="4873752"/>
            <a:ext cx="3776472" cy="749808"/>
          </a:xfrm>
          <a:prstGeom prst="roundRect">
            <a:avLst>
              <a:gd name="adj" fmla="val 14634"/>
            </a:avLst>
          </a:prstGeom>
          <a:solidFill>
            <a:srgbClr val="F8ECEA"/>
          </a:solidFill>
          <a:ln w="8890">
            <a:solidFill>
              <a:srgbClr val="B44C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56448" y="5029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闸门：T+1 未过，不采购 MIDI；无真实付费，不扩大云成本和获客。</a:t>
            </a:r>
            <a:endParaRPr lang="en-US" sz="1080" dirty="0"/>
          </a:p>
        </p:txBody>
      </p:sp>
      <p:sp>
        <p:nvSpPr>
          <p:cNvPr id="43" name="Text 41"/>
          <p:cNvSpPr txBox="1"/>
          <p:nvPr/>
        </p:nvSpPr>
        <p:spPr>
          <a:xfrm>
            <a:off x="530352" y="514807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资源现状：2 人产品 / 工程团队；Android、Audiveris 服务、DeepSeek Flash 调用链已有基础。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风险、依赖与止损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三件事不成立，就停止扩张，回到核心问题重做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109960" y="2468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870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25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触发信号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 / 止损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73352"/>
            <a:ext cx="11173968" cy="530352"/>
          </a:xfrm>
          <a:prstGeom prst="roundRect">
            <a:avLst>
              <a:gd name="adj" fmla="val 20690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83080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识别准确性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7739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首轮核对 &gt;10 分钟 / 关键节奏错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773936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缩窄输入；保留原图核对；停止扩大谱型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173968" cy="530352"/>
          </a:xfrm>
          <a:prstGeom prst="roundRect">
            <a:avLst>
              <a:gd name="adj" fmla="val 20690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441448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用户看不懂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4323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人中 &lt;4 人独立完成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432304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重做语言和流程；暂停新增能力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11173968" cy="530352"/>
          </a:xfrm>
          <a:prstGeom prst="roundRect">
            <a:avLst>
              <a:gd name="adj" fmla="val 20690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09981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没有复用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0906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人中 &lt;10 人一周内再用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90672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暂停订阅与获客；重访练习频次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3648456"/>
            <a:ext cx="11173968" cy="530352"/>
          </a:xfrm>
          <a:prstGeom prst="roundRect">
            <a:avLst>
              <a:gd name="adj" fmla="val 20690"/>
            </a:avLst>
          </a:prstGeom>
          <a:solidFill>
            <a:srgbClr val="F5F1FA"/>
          </a:solidFill>
          <a:ln w="8890">
            <a:solidFill>
              <a:srgbClr val="EAE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758184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没有付费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3749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有效实验后 &lt;3 笔真实支付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749040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保留工具版；不扩云成本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4306824"/>
            <a:ext cx="11173968" cy="530352"/>
          </a:xfrm>
          <a:prstGeom prst="roundRect">
            <a:avLst>
              <a:gd name="adj" fmla="val 20690"/>
            </a:avLst>
          </a:prstGeom>
          <a:solidFill>
            <a:srgbClr val="EEF4F0"/>
          </a:solidFill>
          <a:ln w="8890">
            <a:solidFill>
              <a:srgbClr val="DDE9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416552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隐私 / 版权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44074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B44C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无法确认授权或最小发送范围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4407408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024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阻断上传；只保留本地功能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5230368"/>
            <a:ext cx="11173968" cy="621792"/>
          </a:xfrm>
          <a:prstGeom prst="roundRect">
            <a:avLst>
              <a:gd name="adj" fmla="val 17647"/>
            </a:avLst>
          </a:prstGeom>
          <a:solidFill>
            <a:srgbClr val="202420"/>
          </a:solidFill>
          <a:ln w="8890">
            <a:solidFill>
              <a:srgbClr val="2024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385816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继续条件：① 用户能看懂并在 5 分钟内开始练　② 至少 1/3 一周内再用　③ 至少 3 人真实付费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599846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5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下一步：8 月 26 日交付 P0 原型，8 月 30 日拿到第一轮真实用户任务证据。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47B76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指间流韵队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Gpiano AI：把自己的琴谱变成可执行的练习方案</dc:title>
  <dc:subject>Gpiano AI 商业 BP V2</dc:subject>
  <dc:creator>指间流韵队</dc:creator>
  <cp:lastModifiedBy>指间流韵队</cp:lastModifiedBy>
  <cp:revision>1</cp:revision>
  <dcterms:created xsi:type="dcterms:W3CDTF">2026-08-23T10:02:10Z</dcterms:created>
  <dcterms:modified xsi:type="dcterms:W3CDTF">2026-08-23T10:02:10Z</dcterms:modified>
</cp:coreProperties>
</file>