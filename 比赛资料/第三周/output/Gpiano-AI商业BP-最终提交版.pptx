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[Narration]
Gpiano 面向手里已经有琴谱的学习者。我们不是再做一个曲库，而是把用户自己的图片谱变成今天就能执行的练习方案。
[/Narration]
[Sources]
- PROJECT_BRIEF.md
- 比赛资料/第三周/output/Gpiano-AI商业BP-最终提交版.md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[Narration]
行业数字只说明学习场景存在。我们真正关注两类用户：初学者要直接的练习动作，有基础者要保存和续接。角色走查用于需求校准，真实市场验证看三十人中的完成、复用和支付。
[/Narration]
[Sources]
- https://npo059087.npoall.com/news/itemid-170910.html
- https://openstd.samr.gov.cn/bzgk/std/newGbInfo?hcno=E1BD0318ADCA26ACA46465E5E812C74E
- 比赛资料/第三周/input/访谈/双角色模拟用户走查-2026-08-23.md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[Narration]
flowkey、MobileSheets 和专业制谱软件各有强项。Gpiano 不和它们比规模，而是占据自有图片谱到可练版本这一段。五个量化指标决定这个空位是否真的成立。
[/Narration]
[Sources]
- https://www.flowkey.com/zh
- https://www.zubersoft.com/mobilesheets/
- 比赛资料/第三周/output/Gpiano-AI商业BP-最终提交版.md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[Narration]
项目不是概念 Demo。真实图片已经完成识别、结构化、选段练习和独立版本。我们的优势不是模型更神，而是用户随时能核对原谱，任何调整都可以恢复和带走。
[/Narration]
[Sources]
- 比赛资料/第三周/output/evidence/核心流程真机录屏说明.md
- docs/context-sync/current-status.md
- app/schemas/com.gpiano.app.data.GpianoDatabase/11.json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[Narration]
不同用户购买的是不同结果：初学者要今天练什么，有基础者要下次接着练，教师要知道改了什么。三者共用同一套可追溯的结构化乐谱和版本资产。
[/Narration]
[Sources]
- PROJECT_CHARTER.md
- docs/product/requirements.md
- 比赛资料/第三周/input/访谈/双角色模拟用户走查-2026-08-23.md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[Narration]
用户从导入到续练只走五步。当前的差异化是连续闭环和版本控制；曲库、成熟听弹和专业制谱仍是追赶项，多页识别和全面评级不进入当前销售承诺。
[/Narration]
[Sources]
- docs/decisions/ADR-0001-local-first.md
- docs/decisions/ADR-0016-consented-score-ai-companion.md
- docs/decisions/ADR-0017-editable-practice-version-revisions.md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[Narration]
商业模式分三层。九块九单曲包解决初学者第一次购买风险，订阅面向高频用户。所有价格都是实验，只有出现至少三笔真实支付后才扩大成本。
[/Narration]
[Sources]
- 比赛资料/第三周/output/Gpiano-AI商业BP-最终提交版.md
- 比赛资料/第三周/input/访谈/双角色模拟用户走查-2026-08-23.md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[Narration]
优先级很明确：P0 解决看不懂，P1 解决不能续练，P2 才是 MIDI 和多页识别。九月六日先证明用户能完成任务，十月十五日再证明复用和支付。
[/Narration]
[Sources]
- 比赛资料/第三周/input/访谈/双角色模拟用户走查-2026-08-23.md
- 比赛资料/第三周/output/Gpiano-AI商业BP-最终提交版.md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[Narration]
未来九十天只有五个行动节点，预算上限五千元。用户激励优先。可理解性不过，不买 MIDI；没有真实支付，不增加云成本和获客。
[/Narration]
[Sources]
- 比赛资料/第三周/output/Gpiano-AI商业BP-最终提交版.md
- docs/context-sync/current-status.md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[Narration]
我们不靠增加功能掩盖问题。只有用户五分钟内开始练、至少三分之一复用、并出现三笔真实支付，项目才进入下一阶段。下一步是交付 P0 原型并取得真实用户任务证据。
[/Narration]
[Sources]
- 比赛资料/第三周/output/Gpiano-AI商业BP-最终提交版.md
- docs/product/requirements.md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0352" y="411480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F75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主理人出道计划 · 第三周完整商业 BP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1078992"/>
            <a:ext cx="5303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171C1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Gpiano AI</a:t>
            </a:r>
            <a:endParaRPr lang="en-US" sz="5200" dirty="0"/>
          </a:p>
        </p:txBody>
      </p:sp>
      <p:sp>
        <p:nvSpPr>
          <p:cNvPr id="4" name="Text 2"/>
          <p:cNvSpPr txBox="1"/>
          <p:nvPr/>
        </p:nvSpPr>
        <p:spPr>
          <a:xfrm>
            <a:off x="530352" y="1810512"/>
            <a:ext cx="566928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171C1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把自己的琴谱，</a:t>
            </a:r>
            <a:endParaRPr lang="en-US" sz="3500" dirty="0"/>
          </a:p>
          <a:p>
            <a:pPr algn="l" indent="0" marL="0">
              <a:buNone/>
            </a:pPr>
            <a:r>
              <a:rPr lang="en-US" sz="3500" b="1" dirty="0">
                <a:solidFill>
                  <a:srgbClr val="171C1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变成今天就能练的方案</a:t>
            </a:r>
            <a:endParaRPr lang="en-US" sz="35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3401568"/>
            <a:ext cx="52578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6069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为钢琴初学者与进阶学习者，把自有或已获授权的图片琴谱转成可核对、可试听、可分手慢练、可调整的个人练习版本。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513892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F75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指间流韵队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5541264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6069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主理人：弓宇豪　核心成员：胡锐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443216" y="420624"/>
            <a:ext cx="2688336" cy="4700016"/>
          </a:xfrm>
          <a:prstGeom prst="roundRect">
            <a:avLst>
              <a:gd name="adj" fmla="val 6122"/>
            </a:avLst>
          </a:prstGeom>
          <a:solidFill>
            <a:srgbClr val="171C19"/>
          </a:solidFill>
          <a:ln w="10160">
            <a:solidFill>
              <a:srgbClr val="171C19"/>
            </a:solidFill>
            <a:prstDash val="solid"/>
          </a:ln>
        </p:spPr>
      </p:sp>
      <p:pic>
        <p:nvPicPr>
          <p:cNvPr id="9" name="Image 0" descr="/home/thundersoft/AF-GYH/Gpiano/tmp/bp-assets/workspa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475488"/>
            <a:ext cx="2578608" cy="4590288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473952" y="4572000"/>
            <a:ext cx="4370832" cy="1005840"/>
          </a:xfrm>
          <a:prstGeom prst="roundRect">
            <a:avLst>
              <a:gd name="adj" fmla="val 7273"/>
            </a:avLst>
          </a:prstGeom>
          <a:solidFill>
            <a:srgbClr val="F3E47C"/>
          </a:solidFill>
          <a:ln w="10160">
            <a:solidFill>
              <a:srgbClr val="F3E47C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720840" y="4818888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71C1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原谱不覆盖 · 练习可恢复 · 成果可带走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502920" y="6528816"/>
            <a:ext cx="5029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069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指间流韵队 · 2026.08.23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01168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F75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GPiano AI · 商业计划书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3035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171C1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两类用户都有谱，却卡在“下一步怎么练”</a:t>
            </a:r>
            <a:endParaRPr lang="en-US" sz="3500" dirty="0"/>
          </a:p>
        </p:txBody>
      </p:sp>
      <p:sp>
        <p:nvSpPr>
          <p:cNvPr id="4" name="Text 2"/>
          <p:cNvSpPr txBox="1"/>
          <p:nvPr/>
        </p:nvSpPr>
        <p:spPr>
          <a:xfrm>
            <a:off x="11100816" y="237744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069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11155680" cy="0"/>
          </a:xfrm>
          <a:prstGeom prst="line">
            <a:avLst/>
          </a:prstGeom>
          <a:noFill/>
          <a:ln w="12700">
            <a:solidFill>
              <a:srgbClr val="CDD2C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417320"/>
            <a:ext cx="2651760" cy="4526280"/>
          </a:xfrm>
          <a:prstGeom prst="roundRect">
            <a:avLst>
              <a:gd name="adj" fmla="val 2759"/>
            </a:avLst>
          </a:prstGeom>
          <a:solidFill>
            <a:srgbClr val="171C19"/>
          </a:solidFill>
          <a:ln w="10160">
            <a:solidFill>
              <a:srgbClr val="171C1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86384" y="176479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282.26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2267712" y="203911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亿元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86384" y="2487168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DCE1D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2024 年中国乐器产业总营收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786384" y="3493008"/>
            <a:ext cx="18470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3E47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存量用户的学习与练习服务，成为比“再卖一架琴”更值得验证的机会。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786384" y="4974336"/>
            <a:ext cx="184708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DCE1D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行业规模仅作场景依据，不直接作为 Gpiano 市场规模。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566160" y="1481328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4F75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初学者｜学琴约半年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3566160" y="1901952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6069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遇到难小节时，只想马上知道：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566160" y="2331720"/>
            <a:ext cx="29718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71C1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 9—12 小节</a:t>
            </a:r>
            <a:endParaRPr lang="en-US" sz="2500" dirty="0"/>
          </a:p>
          <a:p>
            <a:pPr algn="l" indent="0" marL="0">
              <a:buNone/>
            </a:pPr>
            <a:r>
              <a:rPr lang="en-US" sz="2500" b="1" dirty="0">
                <a:solidFill>
                  <a:srgbClr val="171C1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右手 · 75% 速度 · 循环</a:t>
            </a:r>
            <a:endParaRPr lang="en-US" sz="2500" dirty="0"/>
          </a:p>
        </p:txBody>
      </p:sp>
      <p:sp>
        <p:nvSpPr>
          <p:cNvPr id="15" name="Shape 13"/>
          <p:cNvSpPr/>
          <p:nvPr/>
        </p:nvSpPr>
        <p:spPr>
          <a:xfrm>
            <a:off x="6903720" y="1444752"/>
            <a:ext cx="0" cy="4370832"/>
          </a:xfrm>
          <a:prstGeom prst="line">
            <a:avLst/>
          </a:prstGeom>
          <a:noFill/>
          <a:ln w="12700">
            <a:solidFill>
              <a:srgbClr val="CDD2C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33488" y="148132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6A577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有基础但需要陪练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7333488" y="190195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6069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能独立识谱，但每次都在重复设置和试错：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7333488" y="2514600"/>
            <a:ext cx="3886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71C1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保存上次选段、速度和版本</a:t>
            </a:r>
            <a:endParaRPr lang="en-US" sz="2300" dirty="0"/>
          </a:p>
          <a:p>
            <a:pPr algn="l" indent="0" marL="0">
              <a:buNone/>
            </a:pPr>
            <a:r>
              <a:rPr lang="en-US" sz="2300" b="1" dirty="0">
                <a:solidFill>
                  <a:srgbClr val="171C1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一眼看懂本次改了哪里</a:t>
            </a:r>
            <a:endParaRPr lang="en-US" sz="2300" dirty="0"/>
          </a:p>
        </p:txBody>
      </p:sp>
      <p:sp>
        <p:nvSpPr>
          <p:cNvPr id="19" name="Shape 17"/>
          <p:cNvSpPr/>
          <p:nvPr/>
        </p:nvSpPr>
        <p:spPr>
          <a:xfrm>
            <a:off x="3566160" y="3931920"/>
            <a:ext cx="7909560" cy="1298448"/>
          </a:xfrm>
          <a:prstGeom prst="roundRect">
            <a:avLst>
              <a:gd name="adj" fmla="val 4225"/>
            </a:avLst>
          </a:prstGeom>
          <a:solidFill>
            <a:srgbClr val="F5E4E1"/>
          </a:solidFill>
          <a:ln w="10160">
            <a:solidFill>
              <a:srgbClr val="F5E4E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822192" y="415137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A844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共同阻断点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5440680" y="4078224"/>
            <a:ext cx="5623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71C1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技术术语难懂　·　识别后不知道先核对哪里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171C1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版本差异不直观　·　下次无法直接续练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3584448" y="5559552"/>
            <a:ext cx="7754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F75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90 天验证：30 人触达 → 20 人完成 → 10 人复用 → 3 人真实支付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502920" y="6528816"/>
            <a:ext cx="5029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069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指间流韵队 · 2026.08.23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01168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F75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GPiano AI · 商业计划书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3035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171C1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市场空位不是更多内容，而是把“自己的谱”练起来</a:t>
            </a:r>
            <a:endParaRPr lang="en-US" sz="3500" dirty="0"/>
          </a:p>
        </p:txBody>
      </p:sp>
      <p:sp>
        <p:nvSpPr>
          <p:cNvPr id="4" name="Text 2"/>
          <p:cNvSpPr txBox="1"/>
          <p:nvPr/>
        </p:nvSpPr>
        <p:spPr>
          <a:xfrm>
            <a:off x="11100816" y="237744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069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11155680" cy="0"/>
          </a:xfrm>
          <a:prstGeom prst="line">
            <a:avLst/>
          </a:prstGeom>
          <a:noFill/>
          <a:ln w="12700">
            <a:solidFill>
              <a:srgbClr val="CDD2C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38988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6A577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平台课程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80136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71C1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flowkey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267712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6069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曲库、课程、跟弹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6069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慢速、循环、单手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3246120" y="138988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3E7DA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电子看谱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3246120" y="180136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71C1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MobileSheets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3246120" y="2267712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6069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曲谱管理、批注、翻页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6069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音频与 MIDI 控制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5989320" y="138988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4F75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专业制谱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5989320" y="180136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71C1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MuseScore 等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5989320" y="2267712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6069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专业记谱与排版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6069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格式生态成熟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8732520" y="1261872"/>
            <a:ext cx="2907792" cy="2011680"/>
          </a:xfrm>
          <a:prstGeom prst="roundRect">
            <a:avLst>
              <a:gd name="adj" fmla="val 2727"/>
            </a:avLst>
          </a:prstGeom>
          <a:solidFill>
            <a:srgbClr val="F3E47C"/>
          </a:solidFill>
          <a:ln w="10160">
            <a:solidFill>
              <a:srgbClr val="F3E47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979408" y="157276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1C1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Gpiano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8979408" y="2093976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71C1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自有图片谱</a:t>
            </a:r>
            <a:endParaRPr lang="en-US" sz="2200" dirty="0"/>
          </a:p>
          <a:p>
            <a:pPr algn="l" indent="0" marL="0">
              <a:buNone/>
            </a:pPr>
            <a:r>
              <a:rPr lang="en-US" sz="2200" b="1" dirty="0">
                <a:solidFill>
                  <a:srgbClr val="171C1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 核对</a:t>
            </a:r>
            <a:endParaRPr lang="en-US" sz="2200" dirty="0"/>
          </a:p>
          <a:p>
            <a:pPr algn="l" indent="0" marL="0">
              <a:buNone/>
            </a:pPr>
            <a:r>
              <a:rPr lang="en-US" sz="2200" b="1" dirty="0">
                <a:solidFill>
                  <a:srgbClr val="171C1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 可练版本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594360" y="3639312"/>
            <a:ext cx="10991088" cy="0"/>
          </a:xfrm>
          <a:prstGeom prst="line">
            <a:avLst/>
          </a:prstGeom>
          <a:noFill/>
          <a:ln w="12700">
            <a:solidFill>
              <a:srgbClr val="CDD2C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080" y="395020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1C1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五个指标决定能否继续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621792" y="4553712"/>
            <a:ext cx="1947672" cy="960120"/>
          </a:xfrm>
          <a:prstGeom prst="roundRect">
            <a:avLst>
              <a:gd name="adj" fmla="val 7619"/>
            </a:avLst>
          </a:prstGeom>
          <a:solidFill>
            <a:srgbClr val="DCE9E1"/>
          </a:solidFill>
          <a:ln w="10160">
            <a:solidFill>
              <a:srgbClr val="DCE9E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86384" y="4645152"/>
            <a:ext cx="1618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71C1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≤5 分钟</a:t>
            </a:r>
            <a:endParaRPr lang="en-US" sz="2700" dirty="0"/>
          </a:p>
        </p:txBody>
      </p:sp>
      <p:sp>
        <p:nvSpPr>
          <p:cNvPr id="22" name="Text 20"/>
          <p:cNvSpPr txBox="1"/>
          <p:nvPr/>
        </p:nvSpPr>
        <p:spPr>
          <a:xfrm>
            <a:off x="786384" y="5084064"/>
            <a:ext cx="1618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6069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首次可练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2889504" y="4553712"/>
            <a:ext cx="1947672" cy="960120"/>
          </a:xfrm>
          <a:prstGeom prst="roundRect">
            <a:avLst>
              <a:gd name="adj" fmla="val 7619"/>
            </a:avLst>
          </a:prstGeom>
          <a:solidFill>
            <a:srgbClr val="E9E1F2"/>
          </a:solidFill>
          <a:ln w="10160">
            <a:solidFill>
              <a:srgbClr val="E9E1F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054096" y="4645152"/>
            <a:ext cx="1618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71C1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 / 6</a:t>
            </a:r>
            <a:endParaRPr lang="en-US" sz="2700" dirty="0"/>
          </a:p>
        </p:txBody>
      </p:sp>
      <p:sp>
        <p:nvSpPr>
          <p:cNvPr id="25" name="Text 23"/>
          <p:cNvSpPr txBox="1"/>
          <p:nvPr/>
        </p:nvSpPr>
        <p:spPr>
          <a:xfrm>
            <a:off x="3054096" y="5084064"/>
            <a:ext cx="1618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6069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任务完成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157216" y="4553712"/>
            <a:ext cx="1947672" cy="960120"/>
          </a:xfrm>
          <a:prstGeom prst="roundRect">
            <a:avLst>
              <a:gd name="adj" fmla="val 7619"/>
            </a:avLst>
          </a:prstGeom>
          <a:solidFill>
            <a:srgbClr val="DCE9E1"/>
          </a:solidFill>
          <a:ln w="10160">
            <a:solidFill>
              <a:srgbClr val="DCE9E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321808" y="4645152"/>
            <a:ext cx="1618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71C1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≤10 秒</a:t>
            </a:r>
            <a:endParaRPr lang="en-US" sz="2700" dirty="0"/>
          </a:p>
        </p:txBody>
      </p:sp>
      <p:sp>
        <p:nvSpPr>
          <p:cNvPr id="28" name="Text 26"/>
          <p:cNvSpPr txBox="1"/>
          <p:nvPr/>
        </p:nvSpPr>
        <p:spPr>
          <a:xfrm>
            <a:off x="5321808" y="5084064"/>
            <a:ext cx="1618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6069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说清差异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424928" y="4553712"/>
            <a:ext cx="1947672" cy="960120"/>
          </a:xfrm>
          <a:prstGeom prst="roundRect">
            <a:avLst>
              <a:gd name="adj" fmla="val 7619"/>
            </a:avLst>
          </a:prstGeom>
          <a:solidFill>
            <a:srgbClr val="E9E1F2"/>
          </a:solidFill>
          <a:ln w="10160">
            <a:solidFill>
              <a:srgbClr val="E9E1F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589520" y="4645152"/>
            <a:ext cx="1618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71C1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 / 30</a:t>
            </a:r>
            <a:endParaRPr lang="en-US" sz="2700" dirty="0"/>
          </a:p>
        </p:txBody>
      </p:sp>
      <p:sp>
        <p:nvSpPr>
          <p:cNvPr id="31" name="Text 29"/>
          <p:cNvSpPr txBox="1"/>
          <p:nvPr/>
        </p:nvSpPr>
        <p:spPr>
          <a:xfrm>
            <a:off x="7589520" y="5084064"/>
            <a:ext cx="1618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6069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一周复用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9692640" y="4553712"/>
            <a:ext cx="1947672" cy="960120"/>
          </a:xfrm>
          <a:prstGeom prst="roundRect">
            <a:avLst>
              <a:gd name="adj" fmla="val 7619"/>
            </a:avLst>
          </a:prstGeom>
          <a:solidFill>
            <a:srgbClr val="F3E47C"/>
          </a:solidFill>
          <a:ln w="10160">
            <a:solidFill>
              <a:srgbClr val="F3E47C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857232" y="4645152"/>
            <a:ext cx="1618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71C1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 / 30</a:t>
            </a:r>
            <a:endParaRPr lang="en-US" sz="2700" dirty="0"/>
          </a:p>
        </p:txBody>
      </p:sp>
      <p:sp>
        <p:nvSpPr>
          <p:cNvPr id="34" name="Text 32"/>
          <p:cNvSpPr txBox="1"/>
          <p:nvPr/>
        </p:nvSpPr>
        <p:spPr>
          <a:xfrm>
            <a:off x="9857232" y="5084064"/>
            <a:ext cx="1618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6069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真实付费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502920" y="6528816"/>
            <a:ext cx="5029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069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指间流韵队 · 2026.08.23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01168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F75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GPiano AI · 商业计划书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3035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171C1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核心闭环已跑通，优势是结果可核对、可恢复</a:t>
            </a:r>
            <a:endParaRPr lang="en-US" sz="3500" dirty="0"/>
          </a:p>
        </p:txBody>
      </p:sp>
      <p:sp>
        <p:nvSpPr>
          <p:cNvPr id="4" name="Text 2"/>
          <p:cNvSpPr txBox="1"/>
          <p:nvPr/>
        </p:nvSpPr>
        <p:spPr>
          <a:xfrm>
            <a:off x="11100816" y="237744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069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11155680" cy="0"/>
          </a:xfrm>
          <a:prstGeom prst="line">
            <a:avLst/>
          </a:prstGeom>
          <a:noFill/>
          <a:ln w="12700">
            <a:solidFill>
              <a:srgbClr val="CDD2C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344168"/>
            <a:ext cx="2194560" cy="3822192"/>
          </a:xfrm>
          <a:prstGeom prst="roundRect">
            <a:avLst>
              <a:gd name="adj" fmla="val 7500"/>
            </a:avLst>
          </a:prstGeom>
          <a:solidFill>
            <a:srgbClr val="171C19"/>
          </a:solidFill>
          <a:ln w="10160">
            <a:solidFill>
              <a:srgbClr val="171C19"/>
            </a:solidFill>
            <a:prstDash val="solid"/>
          </a:ln>
        </p:spPr>
      </p:sp>
      <p:pic>
        <p:nvPicPr>
          <p:cNvPr id="7" name="Image 0" descr="/home/thundersoft/AF-GYH/Gpiano/tmp/bp-assets/original-sco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399032"/>
            <a:ext cx="2084832" cy="371246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072384" y="1344168"/>
            <a:ext cx="2194560" cy="3822192"/>
          </a:xfrm>
          <a:prstGeom prst="roundRect">
            <a:avLst>
              <a:gd name="adj" fmla="val 7500"/>
            </a:avLst>
          </a:prstGeom>
          <a:solidFill>
            <a:srgbClr val="171C19"/>
          </a:solidFill>
          <a:ln w="10160">
            <a:solidFill>
              <a:srgbClr val="171C19"/>
            </a:solidFill>
            <a:prstDash val="solid"/>
          </a:ln>
        </p:spPr>
      </p:sp>
      <p:pic>
        <p:nvPicPr>
          <p:cNvPr id="9" name="Image 1" descr="/home/thundersoft/AF-GYH/Gpiano/tmp/bp-assets/workspa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7248" y="1399032"/>
            <a:ext cx="2084832" cy="3712464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577840" y="1344168"/>
            <a:ext cx="2194560" cy="3822192"/>
          </a:xfrm>
          <a:prstGeom prst="roundRect">
            <a:avLst>
              <a:gd name="adj" fmla="val 7500"/>
            </a:avLst>
          </a:prstGeom>
          <a:solidFill>
            <a:srgbClr val="171C19"/>
          </a:solidFill>
          <a:ln w="10160">
            <a:solidFill>
              <a:srgbClr val="171C19"/>
            </a:solidFill>
            <a:prstDash val="solid"/>
          </a:ln>
        </p:spPr>
      </p:sp>
      <p:pic>
        <p:nvPicPr>
          <p:cNvPr id="11" name="Image 2" descr="/home/thundersoft/AF-GYH/Gpiano/tmp/bp-assets/version-detai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2704" y="1399032"/>
            <a:ext cx="2084832" cy="3712464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2770632" y="3182112"/>
            <a:ext cx="256032" cy="0"/>
          </a:xfrm>
          <a:prstGeom prst="line">
            <a:avLst/>
          </a:prstGeom>
          <a:noFill/>
          <a:ln w="22860">
            <a:solidFill>
              <a:srgbClr val="4F7562"/>
            </a:solidFill>
            <a:prstDash val="solid"/>
            <a:tailEnd type="triangle"/>
          </a:ln>
        </p:spPr>
      </p:sp>
      <p:sp>
        <p:nvSpPr>
          <p:cNvPr id="13" name="Shape 8"/>
          <p:cNvSpPr/>
          <p:nvPr/>
        </p:nvSpPr>
        <p:spPr>
          <a:xfrm>
            <a:off x="5276088" y="3182112"/>
            <a:ext cx="256032" cy="0"/>
          </a:xfrm>
          <a:prstGeom prst="line">
            <a:avLst/>
          </a:prstGeom>
          <a:noFill/>
          <a:ln w="22860">
            <a:solidFill>
              <a:srgbClr val="4F7562"/>
            </a:solidFill>
            <a:prstDash val="solid"/>
            <a:tailEnd type="triangle"/>
          </a:ln>
        </p:spPr>
      </p:sp>
      <p:sp>
        <p:nvSpPr>
          <p:cNvPr id="14" name="Text 9"/>
          <p:cNvSpPr txBox="1"/>
          <p:nvPr/>
        </p:nvSpPr>
        <p:spPr>
          <a:xfrm>
            <a:off x="621792" y="5330952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1C1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原始图片谱</a:t>
            </a:r>
            <a:endParaRPr lang="en-US" sz="1700" dirty="0"/>
          </a:p>
        </p:txBody>
      </p:sp>
      <p:sp>
        <p:nvSpPr>
          <p:cNvPr id="15" name="Text 10"/>
          <p:cNvSpPr txBox="1"/>
          <p:nvPr/>
        </p:nvSpPr>
        <p:spPr>
          <a:xfrm>
            <a:off x="3127248" y="5330952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1C1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结构谱与选段练习</a:t>
            </a:r>
            <a:endParaRPr lang="en-US" sz="1700" dirty="0"/>
          </a:p>
        </p:txBody>
      </p:sp>
      <p:sp>
        <p:nvSpPr>
          <p:cNvPr id="16" name="Text 11"/>
          <p:cNvSpPr txBox="1"/>
          <p:nvPr/>
        </p:nvSpPr>
        <p:spPr>
          <a:xfrm>
            <a:off x="5632704" y="5330952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1C1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独立版本与差异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8229600" y="148132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4F75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已验证资产</a:t>
            </a:r>
            <a:endParaRPr lang="en-US" sz="2400" dirty="0"/>
          </a:p>
        </p:txBody>
      </p:sp>
      <p:sp>
        <p:nvSpPr>
          <p:cNvPr id="18" name="Text 13"/>
          <p:cNvSpPr txBox="1"/>
          <p:nvPr/>
        </p:nvSpPr>
        <p:spPr>
          <a:xfrm>
            <a:off x="8229600" y="20848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71C1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24 小节真实结构谱</a:t>
            </a:r>
            <a:endParaRPr lang="en-US" sz="1900" dirty="0"/>
          </a:p>
        </p:txBody>
      </p:sp>
      <p:sp>
        <p:nvSpPr>
          <p:cNvPr id="19" name="Text 14"/>
          <p:cNvSpPr txBox="1"/>
          <p:nvPr/>
        </p:nvSpPr>
        <p:spPr>
          <a:xfrm>
            <a:off x="8229600" y="257860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71C1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125 项可审阅差异</a:t>
            </a:r>
            <a:endParaRPr lang="en-US" sz="1900" dirty="0"/>
          </a:p>
        </p:txBody>
      </p:sp>
      <p:sp>
        <p:nvSpPr>
          <p:cNvPr id="20" name="Text 15"/>
          <p:cNvSpPr txBox="1"/>
          <p:nvPr/>
        </p:nvSpPr>
        <p:spPr>
          <a:xfrm>
            <a:off x="8229600" y="307238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71C1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Room v11 / 备份 v6</a:t>
            </a:r>
            <a:endParaRPr lang="en-US" sz="1900" dirty="0"/>
          </a:p>
        </p:txBody>
      </p:sp>
      <p:sp>
        <p:nvSpPr>
          <p:cNvPr id="21" name="Text 16"/>
          <p:cNvSpPr txBox="1"/>
          <p:nvPr/>
        </p:nvSpPr>
        <p:spPr>
          <a:xfrm>
            <a:off x="8229600" y="35661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71C1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24 + 5 + 4 项测试</a:t>
            </a:r>
            <a:endParaRPr lang="en-US" sz="1900" dirty="0"/>
          </a:p>
        </p:txBody>
      </p:sp>
      <p:sp>
        <p:nvSpPr>
          <p:cNvPr id="22" name="Shape 17"/>
          <p:cNvSpPr/>
          <p:nvPr/>
        </p:nvSpPr>
        <p:spPr>
          <a:xfrm>
            <a:off x="8183880" y="4270248"/>
            <a:ext cx="3063240" cy="1024128"/>
          </a:xfrm>
          <a:prstGeom prst="roundRect">
            <a:avLst>
              <a:gd name="adj" fmla="val 5357"/>
            </a:avLst>
          </a:prstGeom>
          <a:solidFill>
            <a:srgbClr val="DCE9E1"/>
          </a:solidFill>
          <a:ln w="10160">
            <a:solidFill>
              <a:srgbClr val="DCE9E1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8412480" y="4462272"/>
            <a:ext cx="2615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71C1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原谱不覆盖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171C1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每次调整都能撤回、重做和导出</a:t>
            </a:r>
            <a:endParaRPr lang="en-US" sz="1800" dirty="0"/>
          </a:p>
        </p:txBody>
      </p:sp>
      <p:sp>
        <p:nvSpPr>
          <p:cNvPr id="24" name="Text 19"/>
          <p:cNvSpPr txBox="1"/>
          <p:nvPr/>
        </p:nvSpPr>
        <p:spPr>
          <a:xfrm>
            <a:off x="502920" y="6528816"/>
            <a:ext cx="5029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069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指间流韵队 · 2026.08.23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01168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F75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GPiano AI · 商业计划书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3035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171C1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用户购买的不是 AI 次数，而是一份能继续练的材料</a:t>
            </a:r>
            <a:endParaRPr lang="en-US" sz="3500" dirty="0"/>
          </a:p>
        </p:txBody>
      </p:sp>
      <p:sp>
        <p:nvSpPr>
          <p:cNvPr id="4" name="Text 2"/>
          <p:cNvSpPr txBox="1"/>
          <p:nvPr/>
        </p:nvSpPr>
        <p:spPr>
          <a:xfrm>
            <a:off x="11100816" y="237744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069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11155680" cy="0"/>
          </a:xfrm>
          <a:prstGeom prst="line">
            <a:avLst/>
          </a:prstGeom>
          <a:noFill/>
          <a:ln w="12700">
            <a:solidFill>
              <a:srgbClr val="CDD2C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8368" y="149047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4F75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初学者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993392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71C1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少一次面对整页谱发呆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2624328"/>
            <a:ext cx="2606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6069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难小节定位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6069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单手 · 慢速 · 循环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6069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三步练法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822192" y="1417320"/>
            <a:ext cx="0" cy="4315968"/>
          </a:xfrm>
          <a:prstGeom prst="line">
            <a:avLst/>
          </a:prstGeom>
          <a:noFill/>
          <a:ln w="12700">
            <a:solidFill>
              <a:srgbClr val="CDD2C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251960" y="149047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6A577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有基础学习者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4251960" y="1993392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71C1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少一次重复设置和试错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4251960" y="2624328"/>
            <a:ext cx="2606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6069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保存选段与速度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6069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续接上次位置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6069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版本差异摘要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7406640" y="1417320"/>
            <a:ext cx="0" cy="4315968"/>
          </a:xfrm>
          <a:prstGeom prst="line">
            <a:avLst/>
          </a:prstGeom>
          <a:noFill/>
          <a:ln w="12700">
            <a:solidFill>
              <a:srgbClr val="CDD2C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845552" y="149047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E7DA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教师 / 陪练者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7845552" y="1993392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71C1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少一次追问“你改了什么”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7845552" y="2624328"/>
            <a:ext cx="2971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6069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原谱与主谱分离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6069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练习版本可追溯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6069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MusicXML 标准导出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58368" y="4773168"/>
            <a:ext cx="10716768" cy="786384"/>
          </a:xfrm>
          <a:prstGeom prst="roundRect">
            <a:avLst>
              <a:gd name="adj" fmla="val 6977"/>
            </a:avLst>
          </a:prstGeom>
          <a:solidFill>
            <a:srgbClr val="F3E47C"/>
          </a:solidFill>
          <a:ln w="10160">
            <a:solidFill>
              <a:srgbClr val="F3E47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32688" y="4983480"/>
            <a:ext cx="10168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1C1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核心卡位：静态琴谱进入自练、陪练或课后练习之前的“个人练习材料加工层”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502920" y="6528816"/>
            <a:ext cx="5029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069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指间流韵队 · 2026.08.23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01168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F75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GPiano AI · 商业计划书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3035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171C1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五步完成一次练习闭环，能力边界清晰</a:t>
            </a:r>
            <a:endParaRPr lang="en-US" sz="3500" dirty="0"/>
          </a:p>
        </p:txBody>
      </p:sp>
      <p:sp>
        <p:nvSpPr>
          <p:cNvPr id="4" name="Text 2"/>
          <p:cNvSpPr txBox="1"/>
          <p:nvPr/>
        </p:nvSpPr>
        <p:spPr>
          <a:xfrm>
            <a:off x="11100816" y="237744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069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11155680" cy="0"/>
          </a:xfrm>
          <a:prstGeom prst="line">
            <a:avLst/>
          </a:prstGeom>
          <a:noFill/>
          <a:ln w="12700">
            <a:solidFill>
              <a:srgbClr val="CDD2C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331720" y="2057400"/>
            <a:ext cx="438912" cy="0"/>
          </a:xfrm>
          <a:prstGeom prst="line">
            <a:avLst/>
          </a:prstGeom>
          <a:noFill/>
          <a:ln w="22860">
            <a:solidFill>
              <a:srgbClr val="4F7562"/>
            </a:solidFill>
            <a:prstDash val="solid"/>
            <a:tailEnd type="triangle"/>
          </a:ln>
        </p:spPr>
      </p:sp>
      <p:sp>
        <p:nvSpPr>
          <p:cNvPr id="7" name="Text 5"/>
          <p:cNvSpPr txBox="1"/>
          <p:nvPr/>
        </p:nvSpPr>
        <p:spPr>
          <a:xfrm>
            <a:off x="530352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4F75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530352" y="2011680"/>
            <a:ext cx="1920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71C1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导入授权图片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4636008" y="2057400"/>
            <a:ext cx="438912" cy="0"/>
          </a:xfrm>
          <a:prstGeom prst="line">
            <a:avLst/>
          </a:prstGeom>
          <a:noFill/>
          <a:ln w="22860">
            <a:solidFill>
              <a:srgbClr val="4F7562"/>
            </a:solidFill>
            <a:prstDash val="solid"/>
            <a:tailEnd type="triangle"/>
          </a:ln>
        </p:spPr>
      </p:sp>
      <p:sp>
        <p:nvSpPr>
          <p:cNvPr id="10" name="Text 8"/>
          <p:cNvSpPr txBox="1"/>
          <p:nvPr/>
        </p:nvSpPr>
        <p:spPr>
          <a:xfrm>
            <a:off x="283464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4F75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2834640" y="2011680"/>
            <a:ext cx="1920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71C1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识别并核对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6940296" y="2057400"/>
            <a:ext cx="438912" cy="0"/>
          </a:xfrm>
          <a:prstGeom prst="line">
            <a:avLst/>
          </a:prstGeom>
          <a:noFill/>
          <a:ln w="22860">
            <a:solidFill>
              <a:srgbClr val="4F7562"/>
            </a:solidFill>
            <a:prstDash val="solid"/>
            <a:tailEnd type="triangle"/>
          </a:ln>
        </p:spPr>
      </p:sp>
      <p:sp>
        <p:nvSpPr>
          <p:cNvPr id="13" name="Text 11"/>
          <p:cNvSpPr txBox="1"/>
          <p:nvPr/>
        </p:nvSpPr>
        <p:spPr>
          <a:xfrm>
            <a:off x="5138928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4F75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3200" dirty="0"/>
          </a:p>
        </p:txBody>
      </p:sp>
      <p:sp>
        <p:nvSpPr>
          <p:cNvPr id="14" name="Text 12"/>
          <p:cNvSpPr txBox="1"/>
          <p:nvPr/>
        </p:nvSpPr>
        <p:spPr>
          <a:xfrm>
            <a:off x="5138928" y="2011680"/>
            <a:ext cx="1920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71C1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选小节与练法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9244584" y="2057400"/>
            <a:ext cx="438912" cy="0"/>
          </a:xfrm>
          <a:prstGeom prst="line">
            <a:avLst/>
          </a:prstGeom>
          <a:noFill/>
          <a:ln w="22860">
            <a:solidFill>
              <a:srgbClr val="4F7562"/>
            </a:solidFill>
            <a:prstDash val="solid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7443216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4F75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</a:t>
            </a:r>
            <a:endParaRPr lang="en-US" sz="3200" dirty="0"/>
          </a:p>
        </p:txBody>
      </p:sp>
      <p:sp>
        <p:nvSpPr>
          <p:cNvPr id="17" name="Text 15"/>
          <p:cNvSpPr txBox="1"/>
          <p:nvPr/>
        </p:nvSpPr>
        <p:spPr>
          <a:xfrm>
            <a:off x="7443216" y="2011680"/>
            <a:ext cx="1920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71C1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生成独立版本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9747504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A844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</a:t>
            </a:r>
            <a:endParaRPr lang="en-US" sz="3200" dirty="0"/>
          </a:p>
        </p:txBody>
      </p:sp>
      <p:sp>
        <p:nvSpPr>
          <p:cNvPr id="19" name="Text 17"/>
          <p:cNvSpPr txBox="1"/>
          <p:nvPr/>
        </p:nvSpPr>
        <p:spPr>
          <a:xfrm>
            <a:off x="9747504" y="2011680"/>
            <a:ext cx="1920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71C1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导出或下次续练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530352" y="2880360"/>
            <a:ext cx="11064240" cy="0"/>
          </a:xfrm>
          <a:prstGeom prst="line">
            <a:avLst/>
          </a:prstGeom>
          <a:noFill/>
          <a:ln w="12700">
            <a:solidFill>
              <a:srgbClr val="CDD2C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94360" y="322783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4F75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已有差异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594360" y="3675888"/>
            <a:ext cx="4956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1C1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连续路径：图片谱 → 可校正结构 → 独立练习版本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5897880" y="322783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6A577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优势项</a:t>
            </a:r>
            <a:endParaRPr lang="en-US" sz="2200" dirty="0"/>
          </a:p>
        </p:txBody>
      </p:sp>
      <p:sp>
        <p:nvSpPr>
          <p:cNvPr id="24" name="Text 22"/>
          <p:cNvSpPr txBox="1"/>
          <p:nvPr/>
        </p:nvSpPr>
        <p:spPr>
          <a:xfrm>
            <a:off x="5897880" y="3675888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1C1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原谱不覆盖 · 独立历史 · 本地备份 · 标准导出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594360" y="467258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3E7DA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追赶项</a:t>
            </a:r>
            <a:endParaRPr lang="en-US" sz="2200" dirty="0"/>
          </a:p>
        </p:txBody>
      </p:sp>
      <p:sp>
        <p:nvSpPr>
          <p:cNvPr id="26" name="Text 24"/>
          <p:cNvSpPr txBox="1"/>
          <p:nvPr/>
        </p:nvSpPr>
        <p:spPr>
          <a:xfrm>
            <a:off x="594360" y="510235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069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成熟曲库 · 听弹反馈 · 专业自由制谱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5897880" y="467258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A844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暂不承诺</a:t>
            </a:r>
            <a:endParaRPr lang="en-US" sz="2200" dirty="0"/>
          </a:p>
        </p:txBody>
      </p:sp>
      <p:sp>
        <p:nvSpPr>
          <p:cNvPr id="28" name="Text 26"/>
          <p:cNvSpPr txBox="1"/>
          <p:nvPr/>
        </p:nvSpPr>
        <p:spPr>
          <a:xfrm>
            <a:off x="5897880" y="5102352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069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多页/PDF OMR · 全面评级 · 大规模 MIDI 设备兼容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502920" y="6528816"/>
            <a:ext cx="5029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069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指间流韵队 · 2026.08.23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01168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F75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GPiano AI · 商业计划书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3035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171C1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先卖一个被解决的卡点，再验证高频订阅</a:t>
            </a:r>
            <a:endParaRPr lang="en-US" sz="3500" dirty="0"/>
          </a:p>
        </p:txBody>
      </p:sp>
      <p:sp>
        <p:nvSpPr>
          <p:cNvPr id="4" name="Text 2"/>
          <p:cNvSpPr txBox="1"/>
          <p:nvPr/>
        </p:nvSpPr>
        <p:spPr>
          <a:xfrm>
            <a:off x="11100816" y="237744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069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11155680" cy="0"/>
          </a:xfrm>
          <a:prstGeom prst="line">
            <a:avLst/>
          </a:prstGeom>
          <a:noFill/>
          <a:ln w="12700">
            <a:solidFill>
              <a:srgbClr val="CDD2C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148132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4F75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免费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193852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71C1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¥0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2578608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069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本地曲谱库与阅读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6069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每月 1 次受限转换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063240" y="1417320"/>
            <a:ext cx="0" cy="2788920"/>
          </a:xfrm>
          <a:prstGeom prst="line">
            <a:avLst/>
          </a:prstGeom>
          <a:noFill/>
          <a:ln w="12700">
            <a:solidFill>
              <a:srgbClr val="CDD2C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56432" y="148132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6A577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单曲练习包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3456432" y="193852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71C1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¥9.9 / 份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3456432" y="2578608"/>
            <a:ext cx="233172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069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 页识别与校正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6069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选段练习 · 3 个练习版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6069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导出与恢复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989320" y="1417320"/>
            <a:ext cx="0" cy="2788920"/>
          </a:xfrm>
          <a:prstGeom prst="line">
            <a:avLst/>
          </a:prstGeom>
          <a:noFill/>
          <a:ln w="12700">
            <a:solidFill>
              <a:srgbClr val="CDD2C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82512" y="148132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E7DA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Pro 月付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6382512" y="1938528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71C1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¥29 / 月</a:t>
            </a:r>
            <a:endParaRPr lang="en-US" sz="3400" dirty="0"/>
          </a:p>
        </p:txBody>
      </p:sp>
      <p:sp>
        <p:nvSpPr>
          <p:cNvPr id="16" name="Text 14"/>
          <p:cNvSpPr txBox="1"/>
          <p:nvPr/>
        </p:nvSpPr>
        <p:spPr>
          <a:xfrm>
            <a:off x="6382512" y="2578608"/>
            <a:ext cx="224028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069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每月 10 次转换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6069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无限本地预设和版本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6069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选段指导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933688" y="1417320"/>
            <a:ext cx="0" cy="2788920"/>
          </a:xfrm>
          <a:prstGeom prst="line">
            <a:avLst/>
          </a:prstGeom>
          <a:noFill/>
          <a:ln w="12700">
            <a:solidFill>
              <a:srgbClr val="CDD2C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308592" y="148132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4F75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Pro 年付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9308592" y="1938528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71C1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¥199 / 年</a:t>
            </a:r>
            <a:endParaRPr lang="en-US" sz="3200" dirty="0"/>
          </a:p>
        </p:txBody>
      </p:sp>
      <p:sp>
        <p:nvSpPr>
          <p:cNvPr id="20" name="Text 18"/>
          <p:cNvSpPr txBox="1"/>
          <p:nvPr/>
        </p:nvSpPr>
        <p:spPr>
          <a:xfrm>
            <a:off x="9308592" y="257860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069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验证长期续练意愿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21792" y="4498848"/>
            <a:ext cx="10972800" cy="1024128"/>
          </a:xfrm>
          <a:prstGeom prst="roundRect">
            <a:avLst>
              <a:gd name="adj" fmla="val 5357"/>
            </a:avLst>
          </a:prstGeom>
          <a:solidFill>
            <a:srgbClr val="171C19"/>
          </a:solidFill>
          <a:ln w="10160">
            <a:solidFill>
              <a:srgbClr val="171C1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96112" y="473659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3E47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价格实验的成立条件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3657600" y="4681728"/>
            <a:ext cx="7543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≥10 人完成有效选择　·　≥3 笔真实支付　·　达到后才扩大云成本与获客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502920" y="6528816"/>
            <a:ext cx="5029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069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指间流韵队 · 2026.08.23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01168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F75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GPiano AI · 商业计划书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3035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171C1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先做到看得懂、愿意再用，再扩展设备能力</a:t>
            </a:r>
            <a:endParaRPr lang="en-US" sz="3500" dirty="0"/>
          </a:p>
        </p:txBody>
      </p:sp>
      <p:sp>
        <p:nvSpPr>
          <p:cNvPr id="4" name="Text 2"/>
          <p:cNvSpPr txBox="1"/>
          <p:nvPr/>
        </p:nvSpPr>
        <p:spPr>
          <a:xfrm>
            <a:off x="11100816" y="237744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069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11155680" cy="0"/>
          </a:xfrm>
          <a:prstGeom prst="line">
            <a:avLst/>
          </a:prstGeom>
          <a:noFill/>
          <a:ln w="12700">
            <a:solidFill>
              <a:srgbClr val="CDD2C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138988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A844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P0｜保证完成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1901952"/>
            <a:ext cx="2880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1C1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技术词改成用户语言</a:t>
            </a:r>
            <a:endParaRPr lang="en-US" sz="20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171C1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显示识别核对重点</a:t>
            </a:r>
            <a:endParaRPr lang="en-US" sz="20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171C1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按小节总结版本差异</a:t>
            </a:r>
            <a:endParaRPr lang="en-US" sz="20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171C1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一步进入修正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4114800" y="138988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4F75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P1｜形成复用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4114800" y="1901952"/>
            <a:ext cx="2880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1C1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保存选段与速度</a:t>
            </a:r>
            <a:endParaRPr lang="en-US" sz="20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171C1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记住上次位置</a:t>
            </a:r>
            <a:endParaRPr lang="en-US" sz="20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171C1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练习版本可命名</a:t>
            </a:r>
            <a:endParaRPr lang="en-US" sz="20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171C1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保存、分享、继续练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7635240" y="138988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6A577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P2｜扩大能力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7635240" y="1901952"/>
            <a:ext cx="2880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1C1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真实设备 MIDI</a:t>
            </a:r>
            <a:endParaRPr lang="en-US" sz="20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171C1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更细演奏反馈</a:t>
            </a:r>
            <a:endParaRPr lang="en-US" sz="20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171C1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多页 / PDF OMR</a:t>
            </a:r>
            <a:endParaRPr lang="en-US" sz="20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171C1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像素级谱面定位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21792" y="3767328"/>
            <a:ext cx="10881360" cy="0"/>
          </a:xfrm>
          <a:prstGeom prst="line">
            <a:avLst/>
          </a:prstGeom>
          <a:noFill/>
          <a:ln w="12700">
            <a:solidFill>
              <a:srgbClr val="CDD2C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416052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F75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T｜已完成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4617720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71C1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技术 MVP</a:t>
            </a:r>
            <a:endParaRPr lang="en-US" sz="25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513892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6069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真机闭环与恢复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4343400" y="416052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F75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T+1｜9 月 6 日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4343400" y="4617720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71C1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可理解 MVP</a:t>
            </a:r>
            <a:endParaRPr lang="en-US" sz="2500" dirty="0"/>
          </a:p>
        </p:txBody>
      </p:sp>
      <p:sp>
        <p:nvSpPr>
          <p:cNvPr id="18" name="Text 16"/>
          <p:cNvSpPr txBox="1"/>
          <p:nvPr/>
        </p:nvSpPr>
        <p:spPr>
          <a:xfrm>
            <a:off x="4343400" y="513892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6069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5/6 任务 · 首练≤5分钟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8046720" y="416052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A844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T+2｜10 月 15 日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8046720" y="4617720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71C1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付费 Beta</a:t>
            </a:r>
            <a:endParaRPr lang="en-US" sz="2500" dirty="0"/>
          </a:p>
        </p:txBody>
      </p:sp>
      <p:sp>
        <p:nvSpPr>
          <p:cNvPr id="21" name="Text 19"/>
          <p:cNvSpPr txBox="1"/>
          <p:nvPr/>
        </p:nvSpPr>
        <p:spPr>
          <a:xfrm>
            <a:off x="8046720" y="513892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6069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 完成 · 10 复用 · 3 付费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502920" y="6528816"/>
            <a:ext cx="5029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069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指间流韵队 · 2026.08.23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01168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F75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GPiano AI · 商业计划书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3035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171C1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90 天只做五件可验收的事，预算上限 ¥5,000</a:t>
            </a:r>
            <a:endParaRPr lang="en-US" sz="3500" dirty="0"/>
          </a:p>
        </p:txBody>
      </p:sp>
      <p:sp>
        <p:nvSpPr>
          <p:cNvPr id="4" name="Text 2"/>
          <p:cNvSpPr txBox="1"/>
          <p:nvPr/>
        </p:nvSpPr>
        <p:spPr>
          <a:xfrm>
            <a:off x="11100816" y="237744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069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11155680" cy="0"/>
          </a:xfrm>
          <a:prstGeom prst="line">
            <a:avLst/>
          </a:prstGeom>
          <a:noFill/>
          <a:ln w="12700">
            <a:solidFill>
              <a:srgbClr val="CDD2C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3533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F75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08/26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737360" y="135331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1C1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P0 原型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3703320" y="1353312"/>
            <a:ext cx="4251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6069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术语、核对重点、差异摘要可走查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40080" y="1874520"/>
            <a:ext cx="7269480" cy="0"/>
          </a:xfrm>
          <a:prstGeom prst="line">
            <a:avLst/>
          </a:prstGeom>
          <a:noFill/>
          <a:ln w="10160">
            <a:solidFill>
              <a:srgbClr val="CDD2C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1488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F75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08/30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737360" y="214884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1C1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 名真实用户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3703320" y="2148840"/>
            <a:ext cx="4251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6069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录屏并记录所有任务失败点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40080" y="2670048"/>
            <a:ext cx="7269480" cy="0"/>
          </a:xfrm>
          <a:prstGeom prst="line">
            <a:avLst/>
          </a:prstGeom>
          <a:noFill/>
          <a:ln w="10160">
            <a:solidFill>
              <a:srgbClr val="CDD2C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29443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F75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09/06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737360" y="294436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1C1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可理解 MVP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3703320" y="2944368"/>
            <a:ext cx="4251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6069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 人完成；5/6 任务，首练≤5分钟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40080" y="3465576"/>
            <a:ext cx="7269480" cy="0"/>
          </a:xfrm>
          <a:prstGeom prst="line">
            <a:avLst/>
          </a:prstGeom>
          <a:noFill/>
          <a:ln w="10160">
            <a:solidFill>
              <a:srgbClr val="CDD2C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" y="373989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F75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09/20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1737360" y="3739896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1C1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价格实验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3703320" y="3739896"/>
            <a:ext cx="4251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6069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≥10 份有效选择，不计作支付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640080" y="4261104"/>
            <a:ext cx="7269480" cy="0"/>
          </a:xfrm>
          <a:prstGeom prst="line">
            <a:avLst/>
          </a:prstGeom>
          <a:noFill/>
          <a:ln w="10160">
            <a:solidFill>
              <a:srgbClr val="CDD2C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0080" y="453542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F75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10/15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1737360" y="4535424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1C1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30 人 Beta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3703320" y="4535424"/>
            <a:ext cx="4251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6069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 完成 · 10 复用 · 3 真实支付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640080" y="5056632"/>
            <a:ext cx="7269480" cy="0"/>
          </a:xfrm>
          <a:prstGeom prst="line">
            <a:avLst/>
          </a:prstGeom>
          <a:noFill/>
          <a:ln w="10160">
            <a:solidFill>
              <a:srgbClr val="CDD2C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75320" y="1353312"/>
            <a:ext cx="3273552" cy="3456432"/>
          </a:xfrm>
          <a:prstGeom prst="roundRect">
            <a:avLst>
              <a:gd name="adj" fmla="val 1676"/>
            </a:avLst>
          </a:prstGeom>
          <a:solidFill>
            <a:srgbClr val="171C19"/>
          </a:solidFill>
          <a:ln w="10160">
            <a:solidFill>
              <a:srgbClr val="171C19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577072" y="167335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3E47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预算分配</a:t>
            </a:r>
            <a:endParaRPr lang="en-US" sz="2400" dirty="0"/>
          </a:p>
        </p:txBody>
      </p:sp>
      <p:sp>
        <p:nvSpPr>
          <p:cNvPr id="28" name="Text 26"/>
          <p:cNvSpPr txBox="1"/>
          <p:nvPr/>
        </p:nvSpPr>
        <p:spPr>
          <a:xfrm>
            <a:off x="8577072" y="231343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用户激励　¥1,500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8577072" y="2779776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识别 / AI　 ¥1,000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8577072" y="324612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MIDI 设备　¥1,500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8577072" y="3712464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合规材料　 ¥1,000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8275320" y="5029200"/>
            <a:ext cx="3273552" cy="676656"/>
          </a:xfrm>
          <a:prstGeom prst="roundRect">
            <a:avLst>
              <a:gd name="adj" fmla="val 6757"/>
            </a:avLst>
          </a:prstGeom>
          <a:solidFill>
            <a:srgbClr val="F5E4E1"/>
          </a:solidFill>
          <a:ln w="10160">
            <a:solidFill>
              <a:srgbClr val="F5E4E1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531352" y="5138928"/>
            <a:ext cx="2743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844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可理解性不过，不采购 MIDI；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A844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没有付费，不扩大云成本。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502920" y="6528816"/>
            <a:ext cx="5029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069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指间流韵队 · 2026.08.23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01168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F75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GPiano AI · 商业计划书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3035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171C1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三个条件同时成立，Gpiano 才进入下一阶段</a:t>
            </a:r>
            <a:endParaRPr lang="en-US" sz="3500" dirty="0"/>
          </a:p>
        </p:txBody>
      </p:sp>
      <p:sp>
        <p:nvSpPr>
          <p:cNvPr id="4" name="Text 2"/>
          <p:cNvSpPr txBox="1"/>
          <p:nvPr/>
        </p:nvSpPr>
        <p:spPr>
          <a:xfrm>
            <a:off x="11100816" y="237744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069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11155680" cy="0"/>
          </a:xfrm>
          <a:prstGeom prst="line">
            <a:avLst/>
          </a:prstGeom>
          <a:noFill/>
          <a:ln w="12700">
            <a:solidFill>
              <a:srgbClr val="CDD2C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426464"/>
            <a:ext cx="3310128" cy="960120"/>
          </a:xfrm>
          <a:prstGeom prst="roundRect">
            <a:avLst>
              <a:gd name="adj" fmla="val 7619"/>
            </a:avLst>
          </a:prstGeom>
          <a:solidFill>
            <a:srgbClr val="DCE9E1"/>
          </a:solidFill>
          <a:ln w="10160">
            <a:solidFill>
              <a:srgbClr val="DCE9E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04672" y="1517904"/>
            <a:ext cx="2980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71C1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≤5 分钟</a:t>
            </a:r>
            <a:endParaRPr lang="en-US" sz="27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1956816"/>
            <a:ext cx="2980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6069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用户开始第一次练习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434840" y="1426464"/>
            <a:ext cx="3310128" cy="960120"/>
          </a:xfrm>
          <a:prstGeom prst="roundRect">
            <a:avLst>
              <a:gd name="adj" fmla="val 7619"/>
            </a:avLst>
          </a:prstGeom>
          <a:solidFill>
            <a:srgbClr val="E9E1F2"/>
          </a:solidFill>
          <a:ln w="10160">
            <a:solidFill>
              <a:srgbClr val="E9E1F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99432" y="1517904"/>
            <a:ext cx="2980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71C1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≥1 / 3</a:t>
            </a:r>
            <a:endParaRPr lang="en-US" sz="2700" dirty="0"/>
          </a:p>
        </p:txBody>
      </p:sp>
      <p:sp>
        <p:nvSpPr>
          <p:cNvPr id="11" name="Text 9"/>
          <p:cNvSpPr txBox="1"/>
          <p:nvPr/>
        </p:nvSpPr>
        <p:spPr>
          <a:xfrm>
            <a:off x="4599432" y="1956816"/>
            <a:ext cx="2980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6069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一周内再次打开续练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229600" y="1426464"/>
            <a:ext cx="3310128" cy="960120"/>
          </a:xfrm>
          <a:prstGeom prst="roundRect">
            <a:avLst>
              <a:gd name="adj" fmla="val 7619"/>
            </a:avLst>
          </a:prstGeom>
          <a:solidFill>
            <a:srgbClr val="F3E47C"/>
          </a:solidFill>
          <a:ln w="10160">
            <a:solidFill>
              <a:srgbClr val="F3E47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94192" y="1517904"/>
            <a:ext cx="2980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71C1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≥3 人</a:t>
            </a:r>
            <a:endParaRPr lang="en-US" sz="2700" dirty="0"/>
          </a:p>
        </p:txBody>
      </p:sp>
      <p:sp>
        <p:nvSpPr>
          <p:cNvPr id="14" name="Text 12"/>
          <p:cNvSpPr txBox="1"/>
          <p:nvPr/>
        </p:nvSpPr>
        <p:spPr>
          <a:xfrm>
            <a:off x="8394192" y="1956816"/>
            <a:ext cx="2980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6069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完成真实支付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2880360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A844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未达标时怎么做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658368" y="34107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1C1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识别核对超过 10 分钟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4480560" y="341071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F75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4983480" y="3410712"/>
            <a:ext cx="5897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6069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缩窄谱型，不扩大输入范围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658368" y="39136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1C1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 人中少于 4 人独立完成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4480560" y="391363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F75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4983480" y="3913632"/>
            <a:ext cx="5897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6069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暂停新增能力，重做语言与流程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658368" y="44165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1C1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30 人中少于 10 人复用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4480560" y="441655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F75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4983480" y="4416552"/>
            <a:ext cx="5897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6069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暂停订阅与获客，重新验证练习频率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658368" y="491947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1C1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少于 3 笔真实支付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4480560" y="491947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F75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4983480" y="4919472"/>
            <a:ext cx="5897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6069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保留本地工具版，不扩大云成本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640080" y="5623560"/>
            <a:ext cx="10899648" cy="502920"/>
          </a:xfrm>
          <a:prstGeom prst="roundRect">
            <a:avLst>
              <a:gd name="adj" fmla="val 7273"/>
            </a:avLst>
          </a:prstGeom>
          <a:solidFill>
            <a:srgbClr val="171C19"/>
          </a:solidFill>
          <a:ln w="10160">
            <a:solidFill>
              <a:srgbClr val="171C19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68680" y="5733288"/>
            <a:ext cx="10469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下一步：8 月 26 日交付 P0 原型，8 月 30 日取得首轮真实学习者任务证据</a:t>
            </a:r>
            <a:endParaRPr lang="en-US" sz="1900" dirty="0"/>
          </a:p>
        </p:txBody>
      </p:sp>
      <p:sp>
        <p:nvSpPr>
          <p:cNvPr id="30" name="Text 28"/>
          <p:cNvSpPr txBox="1"/>
          <p:nvPr/>
        </p:nvSpPr>
        <p:spPr>
          <a:xfrm>
            <a:off x="502920" y="6528816"/>
            <a:ext cx="5029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069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指间流韵队 · 2026.08.23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指间流韵队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Gpiano AI 商业计划书</dc:title>
  <dc:subject>AI 主理人出道计划第三周完整商业 BP</dc:subject>
  <dc:creator>指间流韵队</dc:creator>
  <cp:lastModifiedBy>指间流韵队</cp:lastModifiedBy>
  <cp:revision>1</cp:revision>
  <dcterms:created xsi:type="dcterms:W3CDTF">2026-08-23T10:17:57Z</dcterms:created>
  <dcterms:modified xsi:type="dcterms:W3CDTF">2026-08-23T10:17:57Z</dcterms:modified>
</cp:coreProperties>
</file>